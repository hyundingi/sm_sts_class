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99" r:id="rId2"/>
    <p:sldId id="300" r:id="rId3"/>
    <p:sldId id="337" r:id="rId4"/>
    <p:sldId id="338" r:id="rId5"/>
    <p:sldId id="339" r:id="rId6"/>
    <p:sldId id="340" r:id="rId7"/>
    <p:sldId id="342" r:id="rId8"/>
    <p:sldId id="343" r:id="rId9"/>
    <p:sldId id="345" r:id="rId10"/>
    <p:sldId id="344" r:id="rId11"/>
    <p:sldId id="346" r:id="rId12"/>
    <p:sldId id="347" r:id="rId13"/>
    <p:sldId id="348" r:id="rId14"/>
    <p:sldId id="349" r:id="rId15"/>
    <p:sldId id="261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D5B2"/>
    <a:srgbClr val="FFDA1A"/>
    <a:srgbClr val="86EAEF"/>
    <a:srgbClr val="6BC0FF"/>
    <a:srgbClr val="4785B8"/>
    <a:srgbClr val="396E9A"/>
    <a:srgbClr val="174366"/>
    <a:srgbClr val="000000"/>
    <a:srgbClr val="4B5C75"/>
    <a:srgbClr val="0F518E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4995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-14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A07CD-7CF1-42E6-88F0-1E16322EAFE4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71B74-8A38-4139-8F3A-2A7FCD344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54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0B428E5-4487-4DFD-8F28-9D964CD37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084DD16E-187C-4E7E-ABBE-F6BAC9F37A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A88A4909-5F9B-4C27-B710-67153ABAF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ECFC0D00-E907-440E-A201-CB22D51C4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04CD4DB-7CDF-4DC5-A588-36FF3B79E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9937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CC0765E-FEE5-4F3E-B758-957F9D1DD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0B8203BB-146D-4B44-AA2A-D336C0BFB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4FEA8557-8690-42D1-8E15-36046512D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D162651-A169-457B-99EA-EA1182CF1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7244B403-3C1C-4CE4-AA5F-DF4C2A7CB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689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30486F1-7E70-4862-B180-2F6D6C675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36908656-EF8F-48E0-9146-072072465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B16B4667-8BEE-4EC9-BA83-01E5A6FD4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4F9D9826-20A3-4308-8A7E-4443ADE4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A7094DF9-3D1A-4060-B052-7334DBE8C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082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9F522D55-7DBF-4DF1-AA0F-67C643A6A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B12F76A-C30B-4227-9FF3-E27F34C3E1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67C20396-A042-42DD-9F0A-41B357119C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AC3142A1-0A63-479E-9A20-AF9E0235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ADA1015A-5E4C-48EF-B12F-BAC88CCB5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46BA470E-15C8-4466-BB2E-CE85324BD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723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1AA09FD-4F6B-48E5-BE06-783FEA30E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DFAB8419-E738-4085-9DEA-BCA42D09E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0F587FC7-027E-491E-BED2-077EECD8E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52F5D329-9162-4215-8C89-91A50AF8A2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E0CA0DCA-1843-474C-A22A-E55A19E91A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D80573AA-E75C-4AEF-B12E-B708309CD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B403317B-845F-46B5-AEAD-5D1A351ED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C00B0CCC-652B-4FAD-9905-871FB0B13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134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3211D18-6A50-431A-910D-D067F0BD7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0FD8662F-716A-4A1D-B2EA-998F00F97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41E16FA2-A4DB-4FA7-9701-60D7AF426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4FB5A49D-3517-4E67-A938-EB73ECC0C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021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977F62E5-67D8-42BE-9DF1-88D6EFCA1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0D1683B0-EB4C-4A8A-96E4-0FF5D6FD7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53859FCB-EB4F-4D28-900A-B3B9CC0A0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385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977F62E5-67D8-42BE-9DF1-88D6EFCA1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0D1683B0-EB4C-4A8A-96E4-0FF5D6FD7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53859FCB-EB4F-4D28-900A-B3B9CC0A0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5466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9BD9945-F253-480F-B350-42D887245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EAA3872-D885-4E5E-93E0-787173DD7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51EA71B0-39FE-4979-8EEE-D65F5EED9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F1FD771C-80C4-4A89-9DDE-75DEF39A4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01BA1B2-C8F1-4247-A6DE-B7406BF01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E95EDE68-03B7-446B-9B78-5F31A3A37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495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2966B7B-1EDC-4343-9BA3-A7E1981C8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195A37DD-A068-47F0-B5E9-276C85D0A7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F0B77AA3-0D93-4AAE-923B-6CB8DC910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8B4F825F-B1F5-43F1-867C-C0771F648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A1DF479B-B03B-4053-AC71-D2F3CCE3E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8E3258AE-092A-4CB5-839C-AEFEF5417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5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32D5B9B-7087-4278-8D9F-742BE7B1F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33D46886-A0A8-4BC6-BC27-C23665A86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5FFBE18-7E7B-464D-AD6B-7728D2936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39FB71CC-82EF-4AF7-B753-454DFD33D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061512D-1F1E-4E61-8590-1679657EA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4316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13D78E37-5232-46D5-834E-28C0916B6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A0468B19-65B1-488C-AE29-F57BCDB92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DF0112E3-2C15-484C-AA1B-F968958EA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F28E4BE-748D-4FB8-BC6B-A661EC4E8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4E3EE48-1179-4BE7-B1F5-AAA66B51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130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64E0DACC-CEE6-4418-B167-457C89CF0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C29CE159-3C04-447D-A17B-131FA8317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C73AF69-C0A0-4CD9-9332-EB467E43C9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ADB4A-3A8B-4072-ACF2-B9A64CC5A17A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B7477B31-56FC-4575-A118-0FB21F2D81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987745DC-A89F-4B55-AEDC-D856DADB5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376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radle.org/releases/" TargetMode="Externa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2700"/>
            <a:ext cx="12192000" cy="6858000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420101" y="448871"/>
            <a:ext cx="11351799" cy="5960258"/>
          </a:xfrm>
          <a:prstGeom prst="rect">
            <a:avLst/>
          </a:prstGeom>
          <a:solidFill>
            <a:srgbClr val="0058A3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4277532" y="2001520"/>
            <a:ext cx="71118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5400" kern="1800" spc="300" dirty="0" smtClean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r>
              <a:rPr lang="ko-KR" altLang="en-US" sz="5400" kern="1800" spc="300" dirty="0" smtClean="0">
                <a:solidFill>
                  <a:schemeClr val="bg1"/>
                </a:solidFill>
                <a:latin typeface="+mj-ea"/>
                <a:ea typeface="+mj-ea"/>
              </a:rPr>
              <a:t>강</a:t>
            </a:r>
            <a:r>
              <a:rPr lang="en-US" altLang="ko-KR" sz="5400" kern="1800" spc="300" dirty="0">
                <a:solidFill>
                  <a:schemeClr val="bg1"/>
                </a:solidFill>
                <a:latin typeface="+mj-ea"/>
                <a:ea typeface="+mj-ea"/>
              </a:rPr>
              <a:t>. </a:t>
            </a:r>
            <a:r>
              <a:rPr lang="ko-KR" altLang="en-US" sz="5400" kern="1800" spc="300" dirty="0" smtClean="0">
                <a:solidFill>
                  <a:schemeClr val="bg1"/>
                </a:solidFill>
                <a:latin typeface="+mj-ea"/>
                <a:ea typeface="+mj-ea"/>
              </a:rPr>
              <a:t>스프링부트 설정 및 생성</a:t>
            </a:r>
            <a:endParaRPr lang="ko-KR" altLang="en-US" sz="5400" kern="1800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33446" y="4075568"/>
            <a:ext cx="3287135" cy="64633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 algn="r"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스프링 </a:t>
            </a:r>
            <a:r>
              <a:rPr lang="ko-KR" altLang="en-US" dirty="0" smtClean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파일생성</a:t>
            </a:r>
            <a:endParaRPr lang="ko-KR" altLang="en-US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 algn="r">
              <a:buFontTx/>
              <a:buChar char="-"/>
            </a:pPr>
            <a:r>
              <a:rPr lang="en-US" altLang="ko-KR" smtClean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resources </a:t>
            </a:r>
            <a:r>
              <a:rPr lang="ko-KR" altLang="en-US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폴더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4155" y="2096249"/>
            <a:ext cx="697791" cy="697791"/>
          </a:xfrm>
          <a:prstGeom prst="rect">
            <a:avLst/>
          </a:prstGeom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95410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89"/>
    </mc:Choice>
    <mc:Fallback xmlns="">
      <p:transition spd="slow" advTm="33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3670C57E-00EC-44C3-9EB4-0A3542D0FD3C}"/>
              </a:ext>
            </a:extLst>
          </p:cNvPr>
          <p:cNvSpPr/>
          <p:nvPr/>
        </p:nvSpPr>
        <p:spPr>
          <a:xfrm>
            <a:off x="416358" y="1070214"/>
            <a:ext cx="10937442" cy="8205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spc="-1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스프링 부트 프로젝트 생성</a:t>
            </a:r>
            <a:endParaRPr lang="en-US" altLang="ko-KR" sz="2000" spc="-15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Package Explorer &gt; Create new Spring Starter Project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선택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xmlns="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xmlns="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스프링부트 프로젝트 파일생성 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xmlns="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ttps://blog.kakaocdn.net/dn/yD8dG/btrbd0IwM9Q/PXh1jkzGmRSm9grcoSGis1/im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94" y="4604775"/>
            <a:ext cx="3670128" cy="208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3341" y="2022066"/>
            <a:ext cx="3620183" cy="4791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32"/>
          <a:stretch/>
        </p:blipFill>
        <p:spPr bwMode="auto">
          <a:xfrm>
            <a:off x="416358" y="2022066"/>
            <a:ext cx="3463664" cy="2377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F66988F2-1040-4825-85D3-3365834C73C8}"/>
              </a:ext>
            </a:extLst>
          </p:cNvPr>
          <p:cNvSpPr/>
          <p:nvPr/>
        </p:nvSpPr>
        <p:spPr>
          <a:xfrm>
            <a:off x="416358" y="2039413"/>
            <a:ext cx="3257718" cy="5472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F66988F2-1040-4825-85D3-3365834C73C8}"/>
              </a:ext>
            </a:extLst>
          </p:cNvPr>
          <p:cNvSpPr/>
          <p:nvPr/>
        </p:nvSpPr>
        <p:spPr>
          <a:xfrm>
            <a:off x="4658844" y="3481035"/>
            <a:ext cx="1305351" cy="4319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215" y="2022066"/>
            <a:ext cx="3575585" cy="4732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F66988F2-1040-4825-85D3-3365834C73C8}"/>
              </a:ext>
            </a:extLst>
          </p:cNvPr>
          <p:cNvSpPr/>
          <p:nvPr/>
        </p:nvSpPr>
        <p:spPr>
          <a:xfrm>
            <a:off x="7778215" y="2702560"/>
            <a:ext cx="3575585" cy="8644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309435" y="1920815"/>
            <a:ext cx="227647" cy="2371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1</a:t>
            </a:r>
            <a:endParaRPr lang="ko-KR" altLang="en-US" sz="1200" dirty="0"/>
          </a:p>
        </p:txBody>
      </p:sp>
      <p:sp>
        <p:nvSpPr>
          <p:cNvPr id="19" name="타원 18"/>
          <p:cNvSpPr/>
          <p:nvPr/>
        </p:nvSpPr>
        <p:spPr>
          <a:xfrm>
            <a:off x="3880022" y="1920815"/>
            <a:ext cx="227647" cy="2371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2</a:t>
            </a:r>
            <a:endParaRPr lang="ko-KR" altLang="en-US" sz="1200" dirty="0"/>
          </a:p>
        </p:txBody>
      </p:sp>
      <p:sp>
        <p:nvSpPr>
          <p:cNvPr id="20" name="타원 19"/>
          <p:cNvSpPr/>
          <p:nvPr/>
        </p:nvSpPr>
        <p:spPr>
          <a:xfrm>
            <a:off x="7664391" y="1920815"/>
            <a:ext cx="227647" cy="2371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3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12012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xmlns="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xmlns="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스프링부트 프로젝트 파일생성 </a:t>
            </a:r>
            <a:r>
              <a:rPr lang="en-US" altLang="ko-KR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- </a:t>
            </a:r>
            <a:r>
              <a:rPr lang="ko-KR" altLang="en-US" sz="3300" spc="-3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세팅순서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xmlns="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그림 17">
            <a:extLst>
              <a:ext uri="{FF2B5EF4-FFF2-40B4-BE49-F238E27FC236}">
                <a16:creationId xmlns:a16="http://schemas.microsoft.com/office/drawing/2014/main" xmlns="" id="{E91121EB-3538-48E8-B63C-08FD6BCCC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29" y="1065845"/>
            <a:ext cx="2344948" cy="55155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9212018" y="6332849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AF8364E2-0EA5-4FE9-9373-E5670F4B8D55}"/>
              </a:ext>
            </a:extLst>
          </p:cNvPr>
          <p:cNvSpPr txBox="1"/>
          <p:nvPr/>
        </p:nvSpPr>
        <p:spPr>
          <a:xfrm>
            <a:off x="3096444" y="1065845"/>
            <a:ext cx="8120542" cy="22210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/>
          <a:p>
            <a:pPr algn="l"/>
            <a:r>
              <a:rPr lang="en-US" altLang="ko-KR" sz="2000" b="1" i="0" dirty="0" smtClean="0">
                <a:solidFill>
                  <a:srgbClr val="000000"/>
                </a:solidFill>
                <a:effectLst/>
                <a:latin typeface="Menlo, Monaco, Consolas, monospace"/>
              </a:rPr>
              <a:t>[</a:t>
            </a:r>
            <a:r>
              <a:rPr lang="en-US" altLang="ko-KR" sz="2800" b="1" i="0" dirty="0" smtClean="0">
                <a:solidFill>
                  <a:srgbClr val="000000"/>
                </a:solidFill>
                <a:effectLst/>
                <a:latin typeface="Menlo, Monaco, Consolas, monospace"/>
              </a:rPr>
              <a:t> </a:t>
            </a:r>
            <a:r>
              <a:rPr lang="ko-KR" altLang="en-US" sz="2800" b="1" i="0" dirty="0" smtClean="0">
                <a:solidFill>
                  <a:srgbClr val="000000"/>
                </a:solidFill>
                <a:effectLst/>
                <a:latin typeface="Menlo, Monaco, Consolas, monospace"/>
              </a:rPr>
              <a:t>스프링 부트 프로젝트 </a:t>
            </a:r>
            <a:r>
              <a:rPr lang="ko-KR" altLang="en-US" sz="2800" b="1" i="0" dirty="0" err="1" smtClean="0">
                <a:solidFill>
                  <a:srgbClr val="000000"/>
                </a:solidFill>
                <a:effectLst/>
                <a:latin typeface="Menlo, Monaco, Consolas, monospace"/>
              </a:rPr>
              <a:t>세팅</a:t>
            </a:r>
            <a:r>
              <a:rPr lang="ko-KR" altLang="en-US" sz="2800" b="1" i="0" dirty="0" smtClean="0">
                <a:solidFill>
                  <a:srgbClr val="000000"/>
                </a:solidFill>
                <a:effectLst/>
                <a:latin typeface="Menlo, Monaco, Consolas, monospace"/>
              </a:rPr>
              <a:t> 순서 </a:t>
            </a:r>
            <a:r>
              <a:rPr lang="en-US" altLang="ko-KR" sz="2800" b="1" i="0" dirty="0" smtClean="0">
                <a:solidFill>
                  <a:srgbClr val="000000"/>
                </a:solidFill>
                <a:effectLst/>
                <a:latin typeface="Menlo, Monaco, Consolas, monospace"/>
              </a:rPr>
              <a:t>]</a:t>
            </a:r>
          </a:p>
          <a:p>
            <a:pPr algn="l"/>
            <a:r>
              <a:rPr lang="en-US" altLang="ko-KR" b="1" dirty="0" smtClean="0">
                <a:solidFill>
                  <a:srgbClr val="000000"/>
                </a:solidFill>
                <a:latin typeface="Menlo, Monaco, Consolas, monospace"/>
              </a:rPr>
              <a:t/>
            </a:r>
            <a:br>
              <a:rPr lang="en-US" altLang="ko-KR" b="1" dirty="0" smtClean="0">
                <a:solidFill>
                  <a:srgbClr val="000000"/>
                </a:solidFill>
                <a:latin typeface="Menlo, Monaco, Consolas, monospace"/>
              </a:rPr>
            </a:br>
            <a:r>
              <a:rPr lang="en-US" altLang="ko-KR" b="1" dirty="0" smtClean="0">
                <a:solidFill>
                  <a:srgbClr val="000000"/>
                </a:solidFill>
                <a:latin typeface="Menlo, Monaco, Consolas, monospace"/>
              </a:rPr>
              <a:t>1. pom.xml – </a:t>
            </a:r>
            <a:r>
              <a:rPr lang="en-US" altLang="ko-KR" b="1" dirty="0" err="1" smtClean="0">
                <a:solidFill>
                  <a:srgbClr val="000000"/>
                </a:solidFill>
                <a:latin typeface="Menlo, Monaco, Consolas, monospace"/>
              </a:rPr>
              <a:t>jsp,jstl</a:t>
            </a:r>
            <a:r>
              <a:rPr lang="en-US" altLang="ko-KR" b="1" dirty="0" smtClean="0">
                <a:solidFill>
                  <a:srgbClr val="000000"/>
                </a:solidFill>
                <a:latin typeface="Menlo, Monaco, Consolas, monospace"/>
              </a:rPr>
              <a:t> </a:t>
            </a:r>
            <a:r>
              <a:rPr lang="ko-KR" altLang="en-US" b="1" dirty="0" smtClean="0">
                <a:solidFill>
                  <a:srgbClr val="000000"/>
                </a:solidFill>
                <a:latin typeface="Menlo, Monaco, Consolas, monospace"/>
              </a:rPr>
              <a:t>관련 </a:t>
            </a:r>
            <a:r>
              <a:rPr lang="en-US" altLang="ko-KR" b="1" dirty="0" smtClean="0">
                <a:solidFill>
                  <a:srgbClr val="000000"/>
                </a:solidFill>
                <a:latin typeface="Menlo, Monaco, Consolas, monospace"/>
              </a:rPr>
              <a:t>dependency </a:t>
            </a:r>
            <a:r>
              <a:rPr lang="ko-KR" altLang="en-US" b="1" dirty="0" smtClean="0">
                <a:solidFill>
                  <a:srgbClr val="000000"/>
                </a:solidFill>
                <a:latin typeface="Menlo, Monaco, Consolas, monospace"/>
              </a:rPr>
              <a:t>추가</a:t>
            </a:r>
            <a:r>
              <a:rPr lang="en-US" altLang="ko-KR" b="1" dirty="0" smtClean="0">
                <a:solidFill>
                  <a:srgbClr val="000000"/>
                </a:solidFill>
                <a:latin typeface="Menlo, Monaco, Consolas, monospace"/>
              </a:rPr>
              <a:t/>
            </a:r>
            <a:br>
              <a:rPr lang="en-US" altLang="ko-KR" b="1" dirty="0" smtClean="0">
                <a:solidFill>
                  <a:srgbClr val="000000"/>
                </a:solidFill>
                <a:latin typeface="Menlo, Monaco, Consolas, monospace"/>
              </a:rPr>
            </a:br>
            <a:r>
              <a:rPr lang="en-US" altLang="ko-KR" b="1" dirty="0" smtClean="0">
                <a:solidFill>
                  <a:srgbClr val="000000"/>
                </a:solidFill>
                <a:latin typeface="Menlo, Monaco, Consolas, monospace"/>
              </a:rPr>
              <a:t>2. </a:t>
            </a:r>
            <a:r>
              <a:rPr lang="en-US" altLang="ko-KR" b="1" dirty="0" err="1" smtClean="0">
                <a:solidFill>
                  <a:srgbClr val="000000"/>
                </a:solidFill>
                <a:latin typeface="Menlo, Monaco, Consolas, monospace"/>
              </a:rPr>
              <a:t>src</a:t>
            </a:r>
            <a:r>
              <a:rPr lang="en-US" altLang="ko-KR" b="1" dirty="0" smtClean="0">
                <a:solidFill>
                  <a:srgbClr val="000000"/>
                </a:solidFill>
                <a:latin typeface="Menlo, Monaco, Consolas, monospace"/>
              </a:rPr>
              <a:t>/main </a:t>
            </a:r>
            <a:r>
              <a:rPr lang="ko-KR" altLang="en-US" b="1" dirty="0" smtClean="0">
                <a:solidFill>
                  <a:srgbClr val="000000"/>
                </a:solidFill>
                <a:latin typeface="Menlo, Monaco, Consolas, monospace"/>
              </a:rPr>
              <a:t>폴더에 </a:t>
            </a:r>
            <a:r>
              <a:rPr lang="en-US" altLang="ko-KR" b="1" dirty="0" err="1" smtClean="0">
                <a:solidFill>
                  <a:srgbClr val="000000"/>
                </a:solidFill>
                <a:latin typeface="Menlo, Monaco, Consolas, monospace"/>
              </a:rPr>
              <a:t>webapp</a:t>
            </a:r>
            <a:r>
              <a:rPr lang="en-US" altLang="ko-KR" b="1" dirty="0" smtClean="0">
                <a:solidFill>
                  <a:srgbClr val="000000"/>
                </a:solidFill>
                <a:latin typeface="Menlo, Monaco, Consolas, monospace"/>
              </a:rPr>
              <a:t>/WEB-INF/views </a:t>
            </a:r>
            <a:r>
              <a:rPr lang="ko-KR" altLang="en-US" b="1" dirty="0" smtClean="0">
                <a:solidFill>
                  <a:srgbClr val="000000"/>
                </a:solidFill>
                <a:latin typeface="Menlo, Monaco, Consolas, monospace"/>
              </a:rPr>
              <a:t>추가</a:t>
            </a:r>
            <a:r>
              <a:rPr lang="en-US" altLang="ko-KR" b="1" dirty="0" smtClean="0">
                <a:solidFill>
                  <a:srgbClr val="000000"/>
                </a:solidFill>
                <a:latin typeface="Menlo, Monaco, Consolas, monospace"/>
              </a:rPr>
              <a:t/>
            </a:r>
            <a:br>
              <a:rPr lang="en-US" altLang="ko-KR" b="1" dirty="0" smtClean="0">
                <a:solidFill>
                  <a:srgbClr val="000000"/>
                </a:solidFill>
                <a:latin typeface="Menlo, Monaco, Consolas, monospace"/>
              </a:rPr>
            </a:br>
            <a:r>
              <a:rPr lang="en-US" altLang="ko-KR" b="1" dirty="0" smtClean="0">
                <a:solidFill>
                  <a:srgbClr val="000000"/>
                </a:solidFill>
                <a:latin typeface="Menlo, Monaco, Consolas, monospace"/>
              </a:rPr>
              <a:t>3. </a:t>
            </a:r>
            <a:r>
              <a:rPr lang="en-US" altLang="ko-KR" b="1" dirty="0" err="1" smtClean="0">
                <a:solidFill>
                  <a:srgbClr val="000000"/>
                </a:solidFill>
                <a:latin typeface="Menlo, Monaco, Consolas, monospace"/>
              </a:rPr>
              <a:t>application.properties</a:t>
            </a:r>
            <a:r>
              <a:rPr lang="en-US" altLang="ko-KR" b="1" dirty="0" smtClean="0">
                <a:solidFill>
                  <a:srgbClr val="000000"/>
                </a:solidFill>
                <a:latin typeface="Menlo, Monaco, Consolas, monospace"/>
              </a:rPr>
              <a:t> </a:t>
            </a:r>
            <a:r>
              <a:rPr lang="ko-KR" altLang="en-US" b="1" dirty="0" smtClean="0">
                <a:solidFill>
                  <a:srgbClr val="000000"/>
                </a:solidFill>
                <a:latin typeface="Menlo, Monaco, Consolas, monospace"/>
              </a:rPr>
              <a:t>관련소스 추가</a:t>
            </a:r>
            <a:r>
              <a:rPr lang="en-US" altLang="ko-KR" b="1" dirty="0" smtClean="0">
                <a:solidFill>
                  <a:srgbClr val="000000"/>
                </a:solidFill>
                <a:latin typeface="Menlo, Monaco, Consolas, monospace"/>
              </a:rPr>
              <a:t/>
            </a:r>
            <a:br>
              <a:rPr lang="en-US" altLang="ko-KR" b="1" dirty="0" smtClean="0">
                <a:solidFill>
                  <a:srgbClr val="000000"/>
                </a:solidFill>
                <a:latin typeface="Menlo, Monaco, Consolas, monospace"/>
              </a:rPr>
            </a:br>
            <a:r>
              <a:rPr lang="en-US" altLang="ko-KR" b="1" dirty="0" smtClean="0">
                <a:solidFill>
                  <a:srgbClr val="000000"/>
                </a:solidFill>
                <a:latin typeface="Menlo, Monaco, Consolas, monospace"/>
              </a:rPr>
              <a:t>4. controller</a:t>
            </a:r>
            <a:r>
              <a:rPr lang="ko-KR" altLang="en-US" b="1" dirty="0" smtClean="0">
                <a:solidFill>
                  <a:srgbClr val="000000"/>
                </a:solidFill>
                <a:latin typeface="Menlo, Monaco, Consolas, monospace"/>
              </a:rPr>
              <a:t>추가</a:t>
            </a:r>
            <a:endParaRPr lang="en-US" altLang="ko-KR" b="1" i="0" dirty="0" smtClean="0">
              <a:solidFill>
                <a:srgbClr val="000000"/>
              </a:solidFill>
              <a:effectLst/>
              <a:latin typeface="Menlo, Monaco, Consolas, monospace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35BBE7DE-F0EA-40CA-80D9-D94E792F5344}"/>
              </a:ext>
            </a:extLst>
          </p:cNvPr>
          <p:cNvSpPr/>
          <p:nvPr/>
        </p:nvSpPr>
        <p:spPr>
          <a:xfrm>
            <a:off x="876158" y="2361175"/>
            <a:ext cx="2031612" cy="24249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8E86485E-A94E-4D2C-AD3F-3C5EF271DD9F}"/>
              </a:ext>
            </a:extLst>
          </p:cNvPr>
          <p:cNvSpPr/>
          <p:nvPr/>
        </p:nvSpPr>
        <p:spPr>
          <a:xfrm>
            <a:off x="876158" y="1739935"/>
            <a:ext cx="2031612" cy="24249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C7096672-A44A-4A10-95D9-4386E4EC5E62}"/>
              </a:ext>
            </a:extLst>
          </p:cNvPr>
          <p:cNvSpPr/>
          <p:nvPr/>
        </p:nvSpPr>
        <p:spPr>
          <a:xfrm>
            <a:off x="876158" y="6380879"/>
            <a:ext cx="2031612" cy="24249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7140988B-2C0A-44CE-90F9-6024FE3ED38D}"/>
              </a:ext>
            </a:extLst>
          </p:cNvPr>
          <p:cNvSpPr/>
          <p:nvPr/>
        </p:nvSpPr>
        <p:spPr>
          <a:xfrm>
            <a:off x="876158" y="4489622"/>
            <a:ext cx="2031612" cy="124174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FCC9B74C-95EE-4209-9B9D-DB0A7A186F19}"/>
              </a:ext>
            </a:extLst>
          </p:cNvPr>
          <p:cNvSpPr txBox="1"/>
          <p:nvPr/>
        </p:nvSpPr>
        <p:spPr>
          <a:xfrm>
            <a:off x="3391930" y="4300152"/>
            <a:ext cx="6188673" cy="16228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US" altLang="ko-KR" sz="1600" dirty="0">
                <a:solidFill>
                  <a:srgbClr val="000000"/>
                </a:solidFill>
                <a:latin typeface="Menlo, Monaco, Consolas, monospace"/>
              </a:rPr>
              <a:t>[ spring boot ]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Menlo, Monaco, Consolas, monospace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Menlo, Monaco, Consolas, monospace"/>
              </a:rPr>
              <a:t>- </a:t>
            </a:r>
            <a:r>
              <a:rPr lang="en-US" altLang="ko-KR" sz="1400" dirty="0" err="1">
                <a:solidFill>
                  <a:srgbClr val="000000"/>
                </a:solidFill>
                <a:latin typeface="Menlo, Monaco, Consolas, monospace"/>
              </a:rPr>
              <a:t>jsp</a:t>
            </a:r>
            <a:r>
              <a:rPr lang="ko-KR" altLang="en-US" sz="1400" dirty="0">
                <a:solidFill>
                  <a:srgbClr val="000000"/>
                </a:solidFill>
                <a:latin typeface="Menlo, Monaco, Consolas, monospace"/>
              </a:rPr>
              <a:t>페이지를 지원하지 않아 라이브러리 설치</a:t>
            </a:r>
            <a:r>
              <a:rPr lang="en-US" altLang="ko-KR" sz="1400" dirty="0">
                <a:solidFill>
                  <a:srgbClr val="000000"/>
                </a:solidFill>
                <a:latin typeface="Menlo, Monaco, Consolas, monospace"/>
              </a:rPr>
              <a:t/>
            </a:r>
            <a:br>
              <a:rPr lang="en-US" altLang="ko-KR" sz="1400" dirty="0">
                <a:solidFill>
                  <a:srgbClr val="000000"/>
                </a:solidFill>
                <a:latin typeface="Menlo, Monaco, Consolas, monospace"/>
              </a:rPr>
            </a:br>
            <a:r>
              <a:rPr lang="en-US" altLang="ko-KR" sz="1400" dirty="0">
                <a:solidFill>
                  <a:srgbClr val="000000"/>
                </a:solidFill>
                <a:latin typeface="Menlo, Monaco, Consolas, monospace"/>
              </a:rPr>
              <a:t> </a:t>
            </a:r>
            <a:r>
              <a:rPr lang="en-US" altLang="ko-KR" sz="1400" dirty="0" smtClean="0">
                <a:solidFill>
                  <a:srgbClr val="000000"/>
                </a:solidFill>
                <a:latin typeface="Menlo, Monaco, Consolas, monospace"/>
              </a:rPr>
              <a:t>  ( </a:t>
            </a:r>
            <a:r>
              <a:rPr lang="en-US" altLang="ko-KR" sz="1400" dirty="0" err="1" smtClean="0">
                <a:solidFill>
                  <a:srgbClr val="000000"/>
                </a:solidFill>
                <a:latin typeface="Menlo, Monaco, Consolas, monospace"/>
              </a:rPr>
              <a:t>Thymeleaf</a:t>
            </a:r>
            <a:r>
              <a:rPr lang="en-US" altLang="ko-KR" sz="1400" dirty="0" smtClean="0">
                <a:solidFill>
                  <a:srgbClr val="000000"/>
                </a:solidFill>
                <a:latin typeface="Menlo, Monaco, Consolas, monospace"/>
              </a:rPr>
              <a:t>&lt;</a:t>
            </a:r>
            <a:r>
              <a:rPr lang="ko-KR" altLang="en-US" sz="1400" dirty="0" err="1" smtClean="0">
                <a:solidFill>
                  <a:srgbClr val="000000"/>
                </a:solidFill>
                <a:latin typeface="Menlo, Monaco, Consolas, monospace"/>
              </a:rPr>
              <a:t>타임리프</a:t>
            </a:r>
            <a:r>
              <a:rPr lang="en-US" altLang="ko-KR" sz="1400" dirty="0" smtClean="0">
                <a:solidFill>
                  <a:srgbClr val="000000"/>
                </a:solidFill>
                <a:latin typeface="Menlo, Monaco, Consolas, monospace"/>
              </a:rPr>
              <a:t>&gt; </a:t>
            </a:r>
            <a:r>
              <a:rPr lang="ko-KR" altLang="en-US" sz="1400" dirty="0" smtClean="0">
                <a:solidFill>
                  <a:srgbClr val="000000"/>
                </a:solidFill>
                <a:latin typeface="Menlo, Monaco, Consolas, monospace"/>
              </a:rPr>
              <a:t>사</a:t>
            </a:r>
            <a:r>
              <a:rPr lang="ko-KR" altLang="en-US" sz="1400" dirty="0">
                <a:solidFill>
                  <a:srgbClr val="000000"/>
                </a:solidFill>
                <a:latin typeface="Menlo, Monaco, Consolas, monospace"/>
              </a:rPr>
              <a:t>용</a:t>
            </a:r>
            <a:r>
              <a:rPr lang="ko-KR" altLang="en-US" sz="1400" dirty="0" smtClean="0">
                <a:solidFill>
                  <a:srgbClr val="000000"/>
                </a:solidFill>
                <a:latin typeface="Menlo, Monaco, Consolas, monospace"/>
              </a:rPr>
              <a:t> 권장 </a:t>
            </a:r>
            <a:r>
              <a:rPr lang="en-US" altLang="ko-KR" sz="1400" dirty="0" smtClean="0">
                <a:solidFill>
                  <a:srgbClr val="000000"/>
                </a:solidFill>
                <a:latin typeface="Menlo, Monaco, Consolas, monospace"/>
              </a:rPr>
              <a:t>)</a:t>
            </a:r>
            <a:br>
              <a:rPr lang="en-US" altLang="ko-KR" sz="1400" dirty="0" smtClean="0">
                <a:solidFill>
                  <a:srgbClr val="000000"/>
                </a:solidFill>
                <a:latin typeface="Menlo, Monaco, Consolas, monospace"/>
              </a:rPr>
            </a:br>
            <a:r>
              <a:rPr lang="en-US" altLang="ko-KR" sz="1400" dirty="0" smtClean="0">
                <a:solidFill>
                  <a:srgbClr val="000000"/>
                </a:solidFill>
                <a:latin typeface="Menlo, Monaco, Consolas, monospace"/>
              </a:rPr>
              <a:t> - </a:t>
            </a:r>
            <a:r>
              <a:rPr lang="en-US" altLang="ko-KR" sz="1400" dirty="0" err="1" smtClean="0"/>
              <a:t>jsp</a:t>
            </a:r>
            <a:r>
              <a:rPr lang="ko-KR" altLang="en-US" sz="1400" dirty="0" smtClean="0"/>
              <a:t>페이지 사용시 </a:t>
            </a:r>
            <a:r>
              <a:rPr lang="en-US" altLang="ko-KR" sz="1400" dirty="0" smtClean="0"/>
              <a:t>, Pom.xml dependency </a:t>
            </a:r>
            <a:r>
              <a:rPr lang="ko-KR" altLang="en-US" sz="1400" dirty="0" smtClean="0"/>
              <a:t>추가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en-US" altLang="ko-KR" sz="1400" dirty="0" smtClean="0"/>
              <a:t> </a:t>
            </a:r>
            <a:br>
              <a:rPr lang="en-US" altLang="ko-KR" sz="1400" dirty="0" smtClean="0"/>
            </a:br>
            <a:r>
              <a:rPr lang="en-US" altLang="ko-KR" sz="1400" dirty="0" smtClean="0"/>
              <a:t>* </a:t>
            </a:r>
            <a:r>
              <a:rPr lang="en-US" altLang="ko-KR" sz="1400" dirty="0" smtClean="0">
                <a:solidFill>
                  <a:srgbClr val="000000"/>
                </a:solidFill>
                <a:latin typeface="AppleSDGothicNeo"/>
              </a:rPr>
              <a:t>pox.xml </a:t>
            </a:r>
            <a:r>
              <a:rPr lang="ko-KR" altLang="en-US" sz="1400" dirty="0" smtClean="0">
                <a:solidFill>
                  <a:srgbClr val="000000"/>
                </a:solidFill>
                <a:latin typeface="AppleSDGothicNeo"/>
              </a:rPr>
              <a:t>대신 </a:t>
            </a:r>
            <a:r>
              <a:rPr lang="en-US" altLang="ko-KR" sz="1400" dirty="0" err="1">
                <a:solidFill>
                  <a:srgbClr val="000000"/>
                </a:solidFill>
                <a:latin typeface="AppleSDGothicNeo"/>
              </a:rPr>
              <a:t>build.gradle</a:t>
            </a:r>
            <a:r>
              <a:rPr lang="ko-KR" altLang="en-US" sz="1400" dirty="0">
                <a:solidFill>
                  <a:srgbClr val="000000"/>
                </a:solidFill>
                <a:latin typeface="AppleSDGothicNeo"/>
              </a:rPr>
              <a:t>를 사용하는 </a:t>
            </a:r>
            <a:r>
              <a:rPr lang="ko-KR" altLang="en-US" sz="1400" dirty="0" smtClean="0">
                <a:solidFill>
                  <a:srgbClr val="000000"/>
                </a:solidFill>
                <a:latin typeface="AppleSDGothicNeo"/>
              </a:rPr>
              <a:t>추세</a:t>
            </a:r>
            <a:endParaRPr lang="en-US" altLang="ko-KR" sz="1400" dirty="0">
              <a:solidFill>
                <a:srgbClr val="000000"/>
              </a:solidFill>
              <a:latin typeface="AppleSDGothicNeo"/>
            </a:endParaRPr>
          </a:p>
        </p:txBody>
      </p:sp>
      <p:cxnSp>
        <p:nvCxnSpPr>
          <p:cNvPr id="29" name="연결선: 꺾임 22">
            <a:extLst>
              <a:ext uri="{FF2B5EF4-FFF2-40B4-BE49-F238E27FC236}">
                <a16:creationId xmlns:a16="http://schemas.microsoft.com/office/drawing/2014/main" xmlns="" id="{91CB8728-3750-4F1D-8D12-AFEEEC140DE5}"/>
              </a:ext>
            </a:extLst>
          </p:cNvPr>
          <p:cNvCxnSpPr>
            <a:cxnSpLocks/>
            <a:stCxn id="28" idx="1"/>
            <a:endCxn id="26" idx="3"/>
          </p:cNvCxnSpPr>
          <p:nvPr/>
        </p:nvCxnSpPr>
        <p:spPr>
          <a:xfrm rot="10800000" flipV="1">
            <a:off x="2907770" y="5111578"/>
            <a:ext cx="484160" cy="139054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타원 40"/>
          <p:cNvSpPr/>
          <p:nvPr/>
        </p:nvSpPr>
        <p:spPr>
          <a:xfrm>
            <a:off x="762334" y="6262281"/>
            <a:ext cx="227647" cy="2371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1</a:t>
            </a:r>
            <a:endParaRPr lang="ko-KR" altLang="en-US" sz="1200" dirty="0"/>
          </a:p>
        </p:txBody>
      </p:sp>
      <p:sp>
        <p:nvSpPr>
          <p:cNvPr id="42" name="타원 41"/>
          <p:cNvSpPr/>
          <p:nvPr/>
        </p:nvSpPr>
        <p:spPr>
          <a:xfrm>
            <a:off x="762333" y="2242577"/>
            <a:ext cx="227647" cy="2371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2</a:t>
            </a:r>
            <a:endParaRPr lang="ko-KR" altLang="en-US" sz="1200" dirty="0"/>
          </a:p>
        </p:txBody>
      </p:sp>
      <p:sp>
        <p:nvSpPr>
          <p:cNvPr id="43" name="타원 42"/>
          <p:cNvSpPr/>
          <p:nvPr/>
        </p:nvSpPr>
        <p:spPr>
          <a:xfrm>
            <a:off x="762333" y="4371024"/>
            <a:ext cx="227647" cy="2371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3</a:t>
            </a:r>
            <a:endParaRPr lang="ko-KR" altLang="en-US" sz="1200" dirty="0"/>
          </a:p>
        </p:txBody>
      </p:sp>
      <p:sp>
        <p:nvSpPr>
          <p:cNvPr id="44" name="타원 43"/>
          <p:cNvSpPr/>
          <p:nvPr/>
        </p:nvSpPr>
        <p:spPr>
          <a:xfrm>
            <a:off x="762333" y="1597561"/>
            <a:ext cx="227647" cy="2371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4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923457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3670C57E-00EC-44C3-9EB4-0A3542D0FD3C}"/>
              </a:ext>
            </a:extLst>
          </p:cNvPr>
          <p:cNvSpPr/>
          <p:nvPr/>
        </p:nvSpPr>
        <p:spPr>
          <a:xfrm>
            <a:off x="416357" y="1070214"/>
            <a:ext cx="4155642" cy="4949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pom.xml</a:t>
            </a:r>
            <a:endParaRPr lang="ko-KR" altLang="en-US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xmlns="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xmlns="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스프링부트 프로젝트 파일생성 </a:t>
            </a:r>
            <a:r>
              <a:rPr lang="en-US" altLang="ko-KR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– pom.xml </a:t>
            </a:r>
            <a:r>
              <a:rPr lang="ko-KR" altLang="en-US" sz="3300" spc="-3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파일별</a:t>
            </a:r>
            <a:r>
              <a:rPr lang="ko-KR" altLang="en-US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설정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xmlns="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416358" y="1692462"/>
            <a:ext cx="4155642" cy="507831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/>
              <a:t>&lt;!-- JSP </a:t>
            </a:r>
            <a:r>
              <a:rPr lang="ko-KR" altLang="en-US" sz="1200" dirty="0"/>
              <a:t>템플릿 엔진 </a:t>
            </a:r>
            <a:r>
              <a:rPr lang="en-US" altLang="ko-KR" sz="1200" dirty="0"/>
              <a:t>--&gt;</a:t>
            </a:r>
            <a:endParaRPr lang="ko-KR" altLang="en-US" sz="1200" dirty="0"/>
          </a:p>
          <a:p>
            <a:r>
              <a:rPr lang="en-US" altLang="ko-KR" sz="1200" dirty="0"/>
              <a:t>&lt;dependency&gt;</a:t>
            </a:r>
          </a:p>
          <a:p>
            <a:r>
              <a:rPr lang="en-US" altLang="ko-KR" sz="1200" dirty="0"/>
              <a:t>&lt;</a:t>
            </a:r>
            <a:r>
              <a:rPr lang="en-US" altLang="ko-KR" sz="1200" dirty="0" err="1"/>
              <a:t>groupId</a:t>
            </a:r>
            <a:r>
              <a:rPr lang="en-US" altLang="ko-KR" sz="1200" dirty="0"/>
              <a:t>&gt;</a:t>
            </a:r>
            <a:r>
              <a:rPr lang="en-US" altLang="ko-KR" sz="1200" dirty="0" err="1"/>
              <a:t>org.apache.tomcat.embed</a:t>
            </a:r>
            <a:r>
              <a:rPr lang="en-US" altLang="ko-KR" sz="1200" dirty="0"/>
              <a:t>&lt;/</a:t>
            </a:r>
            <a:r>
              <a:rPr lang="en-US" altLang="ko-KR" sz="1200" dirty="0" err="1"/>
              <a:t>groupId</a:t>
            </a:r>
            <a:r>
              <a:rPr lang="en-US" altLang="ko-KR" sz="1200" dirty="0"/>
              <a:t>&gt;</a:t>
            </a:r>
          </a:p>
          <a:p>
            <a:r>
              <a:rPr lang="en-US" altLang="ko-KR" sz="1200" dirty="0"/>
              <a:t>&lt;</a:t>
            </a:r>
            <a:r>
              <a:rPr lang="en-US" altLang="ko-KR" sz="1200" dirty="0" err="1"/>
              <a:t>artifactId</a:t>
            </a:r>
            <a:r>
              <a:rPr lang="en-US" altLang="ko-KR" sz="1200" dirty="0"/>
              <a:t>&gt;tomcat-embed-jasper&lt;/</a:t>
            </a:r>
            <a:r>
              <a:rPr lang="en-US" altLang="ko-KR" sz="1200" dirty="0" err="1"/>
              <a:t>artifactId</a:t>
            </a:r>
            <a:r>
              <a:rPr lang="en-US" altLang="ko-KR" sz="1200" dirty="0"/>
              <a:t>&gt;</a:t>
            </a:r>
          </a:p>
          <a:p>
            <a:r>
              <a:rPr lang="en-US" altLang="ko-KR" sz="1200" dirty="0"/>
              <a:t>&lt;/dependency</a:t>
            </a:r>
            <a:r>
              <a:rPr lang="en-US" altLang="ko-KR" sz="1200" dirty="0" smtClean="0"/>
              <a:t>&gt;</a:t>
            </a:r>
          </a:p>
          <a:p>
            <a:endParaRPr lang="en-US" altLang="ko-KR" sz="1200" dirty="0"/>
          </a:p>
          <a:p>
            <a:r>
              <a:rPr lang="en-US" altLang="ko-KR" sz="1200" dirty="0" smtClean="0"/>
              <a:t>&lt;!– JSTL </a:t>
            </a:r>
            <a:r>
              <a:rPr lang="ko-KR" altLang="en-US" sz="1200" dirty="0" smtClean="0"/>
              <a:t>사용 </a:t>
            </a:r>
            <a:r>
              <a:rPr lang="en-US" altLang="ko-KR" sz="1200" dirty="0" smtClean="0"/>
              <a:t>--&gt;</a:t>
            </a:r>
            <a:endParaRPr lang="en-US" altLang="ko-KR" sz="1200" dirty="0"/>
          </a:p>
          <a:p>
            <a:r>
              <a:rPr lang="en-US" altLang="ko-KR" sz="1200" dirty="0"/>
              <a:t>&lt;dependency&gt;</a:t>
            </a:r>
          </a:p>
          <a:p>
            <a:r>
              <a:rPr lang="en-US" altLang="ko-KR" sz="1200" dirty="0"/>
              <a:t>&lt;</a:t>
            </a:r>
            <a:r>
              <a:rPr lang="en-US" altLang="ko-KR" sz="1200" dirty="0" err="1"/>
              <a:t>groupId</a:t>
            </a:r>
            <a:r>
              <a:rPr lang="en-US" altLang="ko-KR" sz="1200" dirty="0"/>
              <a:t>&gt;</a:t>
            </a:r>
            <a:r>
              <a:rPr lang="en-US" altLang="ko-KR" sz="1200" dirty="0" err="1"/>
              <a:t>jakarta.servlet.jsp.jstl</a:t>
            </a:r>
            <a:r>
              <a:rPr lang="en-US" altLang="ko-KR" sz="1200" dirty="0"/>
              <a:t>&lt;/</a:t>
            </a:r>
            <a:r>
              <a:rPr lang="en-US" altLang="ko-KR" sz="1200" dirty="0" err="1"/>
              <a:t>groupId</a:t>
            </a:r>
            <a:r>
              <a:rPr lang="en-US" altLang="ko-KR" sz="1200" dirty="0"/>
              <a:t>&gt;</a:t>
            </a:r>
          </a:p>
          <a:p>
            <a:r>
              <a:rPr lang="en-US" altLang="ko-KR" sz="1200" dirty="0"/>
              <a:t>&lt;</a:t>
            </a:r>
            <a:r>
              <a:rPr lang="en-US" altLang="ko-KR" sz="1200" dirty="0" err="1"/>
              <a:t>artifactId</a:t>
            </a:r>
            <a:r>
              <a:rPr lang="en-US" altLang="ko-KR" sz="1200" dirty="0"/>
              <a:t>&gt;</a:t>
            </a:r>
            <a:r>
              <a:rPr lang="en-US" altLang="ko-KR" sz="1200" dirty="0" err="1"/>
              <a:t>jakarta.servlet.jsp.jstl-api</a:t>
            </a:r>
            <a:r>
              <a:rPr lang="en-US" altLang="ko-KR" sz="1200" dirty="0"/>
              <a:t>&lt;/</a:t>
            </a:r>
            <a:r>
              <a:rPr lang="en-US" altLang="ko-KR" sz="1200" dirty="0" err="1"/>
              <a:t>artifactId</a:t>
            </a:r>
            <a:r>
              <a:rPr lang="en-US" altLang="ko-KR" sz="1200" dirty="0"/>
              <a:t>&gt;</a:t>
            </a:r>
          </a:p>
          <a:p>
            <a:r>
              <a:rPr lang="en-US" altLang="ko-KR" sz="1200" u="sng" dirty="0"/>
              <a:t>&lt;version&gt;3.0.0&lt;/version&gt;</a:t>
            </a:r>
            <a:endParaRPr lang="en-US" altLang="ko-KR" sz="1200" dirty="0"/>
          </a:p>
          <a:p>
            <a:r>
              <a:rPr lang="en-US" altLang="ko-KR" sz="1200" dirty="0"/>
              <a:t>&lt;/dependency</a:t>
            </a:r>
            <a:r>
              <a:rPr lang="en-US" altLang="ko-KR" sz="1200" dirty="0" smtClean="0"/>
              <a:t>&gt;</a:t>
            </a:r>
          </a:p>
          <a:p>
            <a:endParaRPr lang="en-US" altLang="ko-KR" sz="1200" dirty="0"/>
          </a:p>
          <a:p>
            <a:r>
              <a:rPr lang="en-US" altLang="ko-KR" sz="1200" dirty="0"/>
              <a:t>&lt;!-- </a:t>
            </a:r>
            <a:r>
              <a:rPr lang="en-US" altLang="ko-KR" sz="1200" dirty="0" err="1" smtClean="0"/>
              <a:t>jakarta.servlet</a:t>
            </a:r>
            <a:r>
              <a:rPr lang="en-US" altLang="ko-KR" sz="1200" dirty="0" smtClean="0"/>
              <a:t>/</a:t>
            </a:r>
            <a:r>
              <a:rPr lang="en-US" altLang="ko-KR" sz="1200" dirty="0" err="1" smtClean="0"/>
              <a:t>jakarta.servlet-api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--&gt;</a:t>
            </a:r>
          </a:p>
          <a:p>
            <a:r>
              <a:rPr lang="en-US" altLang="ko-KR" sz="1200" dirty="0"/>
              <a:t>&lt;dependency&gt;</a:t>
            </a:r>
          </a:p>
          <a:p>
            <a:r>
              <a:rPr lang="en-US" altLang="ko-KR" sz="1200" dirty="0"/>
              <a:t>&lt;</a:t>
            </a:r>
            <a:r>
              <a:rPr lang="en-US" altLang="ko-KR" sz="1200" dirty="0" err="1"/>
              <a:t>groupId</a:t>
            </a:r>
            <a:r>
              <a:rPr lang="en-US" altLang="ko-KR" sz="1200" dirty="0"/>
              <a:t>&gt;</a:t>
            </a:r>
            <a:r>
              <a:rPr lang="en-US" altLang="ko-KR" sz="1200" dirty="0" err="1"/>
              <a:t>jakarta.servlet</a:t>
            </a:r>
            <a:r>
              <a:rPr lang="en-US" altLang="ko-KR" sz="1200" dirty="0"/>
              <a:t>&lt;/</a:t>
            </a:r>
            <a:r>
              <a:rPr lang="en-US" altLang="ko-KR" sz="1200" dirty="0" err="1"/>
              <a:t>groupId</a:t>
            </a:r>
            <a:r>
              <a:rPr lang="en-US" altLang="ko-KR" sz="1200" dirty="0"/>
              <a:t>&gt;</a:t>
            </a:r>
          </a:p>
          <a:p>
            <a:r>
              <a:rPr lang="en-US" altLang="ko-KR" sz="1200" dirty="0"/>
              <a:t>&lt;</a:t>
            </a:r>
            <a:r>
              <a:rPr lang="en-US" altLang="ko-KR" sz="1200" dirty="0" err="1"/>
              <a:t>artifactId</a:t>
            </a:r>
            <a:r>
              <a:rPr lang="en-US" altLang="ko-KR" sz="1200" dirty="0"/>
              <a:t>&gt;</a:t>
            </a:r>
            <a:r>
              <a:rPr lang="en-US" altLang="ko-KR" sz="1200" dirty="0" err="1"/>
              <a:t>jakarta.servlet-api</a:t>
            </a:r>
            <a:r>
              <a:rPr lang="en-US" altLang="ko-KR" sz="1200" dirty="0"/>
              <a:t>&lt;/</a:t>
            </a:r>
            <a:r>
              <a:rPr lang="en-US" altLang="ko-KR" sz="1200" dirty="0" err="1"/>
              <a:t>artifactId</a:t>
            </a:r>
            <a:r>
              <a:rPr lang="en-US" altLang="ko-KR" sz="1200" dirty="0"/>
              <a:t>&gt;</a:t>
            </a:r>
          </a:p>
          <a:p>
            <a:r>
              <a:rPr lang="en-US" altLang="ko-KR" sz="1200" u="sng" dirty="0"/>
              <a:t>&lt;version&gt;6.0.0&lt;/version&gt;</a:t>
            </a:r>
            <a:endParaRPr lang="en-US" altLang="ko-KR" sz="1200" dirty="0"/>
          </a:p>
          <a:p>
            <a:r>
              <a:rPr lang="en-US" altLang="ko-KR" sz="1200" dirty="0"/>
              <a:t>&lt;scope&gt;provided&lt;/scope&gt;</a:t>
            </a:r>
          </a:p>
          <a:p>
            <a:r>
              <a:rPr lang="en-US" altLang="ko-KR" sz="1200" dirty="0"/>
              <a:t>&lt;/dependency</a:t>
            </a:r>
            <a:r>
              <a:rPr lang="en-US" altLang="ko-KR" sz="1200" dirty="0" smtClean="0"/>
              <a:t>&gt;</a:t>
            </a:r>
          </a:p>
          <a:p>
            <a:endParaRPr lang="en-US" altLang="ko-KR" sz="1200" dirty="0"/>
          </a:p>
          <a:p>
            <a:r>
              <a:rPr lang="en-US" altLang="ko-KR" sz="1200" dirty="0"/>
              <a:t>&lt;!-- </a:t>
            </a:r>
            <a:r>
              <a:rPr lang="en-US" altLang="ko-KR" sz="1200" dirty="0" err="1" smtClean="0"/>
              <a:t>jakarta.servlet.jsp.jstl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--&gt;</a:t>
            </a:r>
          </a:p>
          <a:p>
            <a:r>
              <a:rPr lang="en-US" altLang="ko-KR" sz="1200" dirty="0"/>
              <a:t>&lt;dependency&gt;</a:t>
            </a:r>
          </a:p>
          <a:p>
            <a:r>
              <a:rPr lang="en-US" altLang="ko-KR" sz="1200" dirty="0"/>
              <a:t>&lt;</a:t>
            </a:r>
            <a:r>
              <a:rPr lang="en-US" altLang="ko-KR" sz="1200" dirty="0" err="1"/>
              <a:t>groupId</a:t>
            </a:r>
            <a:r>
              <a:rPr lang="en-US" altLang="ko-KR" sz="1200" dirty="0"/>
              <a:t>&gt;</a:t>
            </a:r>
            <a:r>
              <a:rPr lang="en-US" altLang="ko-KR" sz="1200" dirty="0" err="1"/>
              <a:t>org.glassfish.web</a:t>
            </a:r>
            <a:r>
              <a:rPr lang="en-US" altLang="ko-KR" sz="1200" dirty="0"/>
              <a:t>&lt;/</a:t>
            </a:r>
            <a:r>
              <a:rPr lang="en-US" altLang="ko-KR" sz="1200" dirty="0" err="1"/>
              <a:t>groupId</a:t>
            </a:r>
            <a:r>
              <a:rPr lang="en-US" altLang="ko-KR" sz="1200" dirty="0"/>
              <a:t>&gt;</a:t>
            </a:r>
          </a:p>
          <a:p>
            <a:r>
              <a:rPr lang="en-US" altLang="ko-KR" sz="1200" dirty="0"/>
              <a:t>&lt;</a:t>
            </a:r>
            <a:r>
              <a:rPr lang="en-US" altLang="ko-KR" sz="1200" dirty="0" err="1"/>
              <a:t>artifactId</a:t>
            </a:r>
            <a:r>
              <a:rPr lang="en-US" altLang="ko-KR" sz="1200" dirty="0"/>
              <a:t>&gt;</a:t>
            </a:r>
            <a:r>
              <a:rPr lang="en-US" altLang="ko-KR" sz="1200" dirty="0" err="1"/>
              <a:t>jakarta.servlet.jsp.jstl</a:t>
            </a:r>
            <a:r>
              <a:rPr lang="en-US" altLang="ko-KR" sz="1200" dirty="0"/>
              <a:t>&lt;/</a:t>
            </a:r>
            <a:r>
              <a:rPr lang="en-US" altLang="ko-KR" sz="1200" dirty="0" err="1"/>
              <a:t>artifactId</a:t>
            </a:r>
            <a:r>
              <a:rPr lang="en-US" altLang="ko-KR" sz="1200" dirty="0"/>
              <a:t>&gt;</a:t>
            </a:r>
          </a:p>
          <a:p>
            <a:r>
              <a:rPr lang="en-US" altLang="ko-KR" sz="1200" u="sng" dirty="0"/>
              <a:t>&lt;version&gt;3.0.1&lt;/version&gt;</a:t>
            </a:r>
            <a:endParaRPr lang="en-US" altLang="ko-KR" sz="1200" dirty="0"/>
          </a:p>
          <a:p>
            <a:r>
              <a:rPr lang="en-US" altLang="ko-KR" sz="1200" dirty="0"/>
              <a:t>&lt;/dependency&gt;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3670C57E-00EC-44C3-9EB4-0A3542D0FD3C}"/>
              </a:ext>
            </a:extLst>
          </p:cNvPr>
          <p:cNvSpPr/>
          <p:nvPr/>
        </p:nvSpPr>
        <p:spPr>
          <a:xfrm>
            <a:off x="4798886" y="1070214"/>
            <a:ext cx="6305719" cy="4949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spc="-1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application.properties</a:t>
            </a:r>
            <a:endParaRPr lang="en-US" altLang="ko-KR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798886" y="1692462"/>
            <a:ext cx="6305719" cy="230832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# </a:t>
            </a:r>
            <a:r>
              <a:rPr lang="en-US" altLang="ko-K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jsp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위치 설정 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#</a:t>
            </a:r>
          </a:p>
          <a:p>
            <a:r>
              <a:rPr lang="en-US" altLang="ko-K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spring.mvc.view.prefix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dirty="0">
                <a:solidFill>
                  <a:srgbClr val="2AA198"/>
                </a:solidFill>
                <a:latin typeface="Consolas" panose="020B0609020204030204" pitchFamily="49" charset="0"/>
              </a:rPr>
              <a:t>/WEB-INF/views/</a:t>
            </a:r>
          </a:p>
          <a:p>
            <a:r>
              <a:rPr lang="en-US" altLang="ko-K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spring.mvc.view.suffix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dirty="0">
                <a:solidFill>
                  <a:srgbClr val="2AA198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200" dirty="0" err="1">
                <a:solidFill>
                  <a:srgbClr val="2AA198"/>
                </a:solidFill>
                <a:latin typeface="Consolas" panose="020B0609020204030204" pitchFamily="49" charset="0"/>
              </a:rPr>
              <a:t>jsp</a:t>
            </a:r>
            <a:endParaRPr lang="en-US" altLang="ko-KR" sz="1200" dirty="0">
              <a:solidFill>
                <a:srgbClr val="2AA198"/>
              </a:solidFill>
              <a:latin typeface="Consolas" panose="020B0609020204030204" pitchFamily="49" charset="0"/>
            </a:endParaRPr>
          </a:p>
          <a:p>
            <a:endParaRPr lang="en-US" altLang="ko-KR" sz="1200" dirty="0">
              <a:solidFill>
                <a:srgbClr val="2AA198"/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# </a:t>
            </a:r>
            <a:r>
              <a:rPr lang="ko-KR" altLang="en-US" sz="1200" dirty="0">
                <a:latin typeface="Consolas" panose="020B0609020204030204" pitchFamily="49" charset="0"/>
              </a:rPr>
              <a:t>포트 설정 </a:t>
            </a:r>
            <a:r>
              <a:rPr lang="en-US" altLang="ko-KR" sz="1200" dirty="0">
                <a:latin typeface="Consolas" panose="020B0609020204030204" pitchFamily="49" charset="0"/>
              </a:rPr>
              <a:t>#</a:t>
            </a:r>
          </a:p>
          <a:p>
            <a:r>
              <a:rPr lang="en-US" altLang="ko-KR" sz="1200" dirty="0" err="1"/>
              <a:t>server.port</a:t>
            </a:r>
            <a:r>
              <a:rPr lang="en-US" altLang="ko-KR" sz="1200" dirty="0"/>
              <a:t> = 8080</a:t>
            </a:r>
          </a:p>
          <a:p>
            <a:endParaRPr lang="en-US" altLang="ko-KR" sz="1200" dirty="0"/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# oracle DB </a:t>
            </a:r>
            <a:r>
              <a:rPr lang="ko-KR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설정 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#</a:t>
            </a:r>
            <a:endParaRPr lang="en-US" altLang="ko-KR" sz="1200" dirty="0"/>
          </a:p>
          <a:p>
            <a:r>
              <a:rPr lang="en-US" altLang="ko-K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spring.datasource.driver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-class-name=</a:t>
            </a:r>
            <a:r>
              <a:rPr lang="en-US" altLang="ko-KR" sz="1200" dirty="0" err="1">
                <a:solidFill>
                  <a:srgbClr val="2AA198"/>
                </a:solidFill>
                <a:latin typeface="Consolas" panose="020B0609020204030204" pitchFamily="49" charset="0"/>
              </a:rPr>
              <a:t>oracle.jdbc.driver.OracleDriver</a:t>
            </a:r>
            <a:endParaRPr lang="en-US" altLang="ko-KR" sz="1200" dirty="0">
              <a:solidFill>
                <a:srgbClr val="2AA198"/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spring.datasource.url=</a:t>
            </a:r>
            <a:r>
              <a:rPr lang="en-US" altLang="ko-KR" sz="1200" dirty="0" err="1">
                <a:solidFill>
                  <a:srgbClr val="2AA198"/>
                </a:solidFill>
                <a:latin typeface="Consolas" panose="020B0609020204030204" pitchFamily="49" charset="0"/>
              </a:rPr>
              <a:t>jdbc:oracle:thin</a:t>
            </a:r>
            <a:r>
              <a:rPr lang="en-US" altLang="ko-KR" sz="1200" dirty="0">
                <a:solidFill>
                  <a:srgbClr val="2AA198"/>
                </a:solidFill>
                <a:latin typeface="Consolas" panose="020B0609020204030204" pitchFamily="49" charset="0"/>
              </a:rPr>
              <a:t>:@localhost:1521/</a:t>
            </a:r>
            <a:r>
              <a:rPr lang="en-US" altLang="ko-KR" sz="1200" dirty="0" err="1">
                <a:solidFill>
                  <a:srgbClr val="2AA198"/>
                </a:solidFill>
                <a:latin typeface="Consolas" panose="020B0609020204030204" pitchFamily="49" charset="0"/>
              </a:rPr>
              <a:t>xe</a:t>
            </a:r>
            <a:endParaRPr lang="en-US" altLang="ko-KR" sz="1200" dirty="0">
              <a:solidFill>
                <a:srgbClr val="2AA198"/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spring.datasource.username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dirty="0" err="1">
                <a:solidFill>
                  <a:srgbClr val="2AA198"/>
                </a:solidFill>
                <a:latin typeface="Consolas" panose="020B0609020204030204" pitchFamily="49" charset="0"/>
              </a:rPr>
              <a:t>ora_user</a:t>
            </a:r>
            <a:endParaRPr lang="en-US" altLang="ko-KR" sz="1200" dirty="0">
              <a:solidFill>
                <a:srgbClr val="2AA198"/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spring.datasource.password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dirty="0">
                <a:solidFill>
                  <a:srgbClr val="2AA198"/>
                </a:solidFill>
                <a:latin typeface="Consolas" panose="020B0609020204030204" pitchFamily="49" charset="0"/>
              </a:rPr>
              <a:t>1234</a:t>
            </a:r>
          </a:p>
        </p:txBody>
      </p:sp>
      <p:sp>
        <p:nvSpPr>
          <p:cNvPr id="28" name="타원 27"/>
          <p:cNvSpPr/>
          <p:nvPr/>
        </p:nvSpPr>
        <p:spPr>
          <a:xfrm>
            <a:off x="309435" y="925519"/>
            <a:ext cx="227647" cy="2371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1</a:t>
            </a:r>
            <a:endParaRPr lang="ko-KR" altLang="en-US" sz="1200" dirty="0"/>
          </a:p>
        </p:txBody>
      </p:sp>
      <p:sp>
        <p:nvSpPr>
          <p:cNvPr id="29" name="타원 28"/>
          <p:cNvSpPr/>
          <p:nvPr/>
        </p:nvSpPr>
        <p:spPr>
          <a:xfrm>
            <a:off x="4747938" y="955025"/>
            <a:ext cx="227647" cy="2371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2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59043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xmlns="" id="{E91121EB-3538-48E8-B63C-08FD6BCCC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57" y="1651196"/>
            <a:ext cx="2188137" cy="51467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3670C57E-00EC-44C3-9EB4-0A3542D0FD3C}"/>
              </a:ext>
            </a:extLst>
          </p:cNvPr>
          <p:cNvSpPr/>
          <p:nvPr/>
        </p:nvSpPr>
        <p:spPr>
          <a:xfrm>
            <a:off x="416357" y="1070214"/>
            <a:ext cx="5273455" cy="4949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폴더 생성 </a:t>
            </a: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altLang="ko-KR" sz="2000" spc="-1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webapp</a:t>
            </a: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/WEB-INF/views</a:t>
            </a:r>
            <a:endParaRPr lang="ko-KR" altLang="en-US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xmlns="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xmlns="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스프링부트 프로젝트 파일생성 </a:t>
            </a:r>
            <a:r>
              <a:rPr lang="en-US" altLang="ko-KR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– </a:t>
            </a:r>
            <a:r>
              <a:rPr lang="ko-KR" altLang="en-US" sz="3300" spc="-3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파일별</a:t>
            </a:r>
            <a:r>
              <a:rPr lang="ko-KR" altLang="en-US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설정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xmlns="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438" y="1651196"/>
            <a:ext cx="2938374" cy="3438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720" y="4095679"/>
            <a:ext cx="2880401" cy="5586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타원 27"/>
          <p:cNvSpPr/>
          <p:nvPr/>
        </p:nvSpPr>
        <p:spPr>
          <a:xfrm>
            <a:off x="309435" y="925519"/>
            <a:ext cx="227647" cy="2371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3</a:t>
            </a:r>
            <a:endParaRPr lang="ko-KR" altLang="en-US" sz="12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7140988B-2C0A-44CE-90F9-6024FE3ED38D}"/>
              </a:ext>
            </a:extLst>
          </p:cNvPr>
          <p:cNvSpPr/>
          <p:nvPr/>
        </p:nvSpPr>
        <p:spPr>
          <a:xfrm>
            <a:off x="416357" y="3603997"/>
            <a:ext cx="2195037" cy="236019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7140988B-2C0A-44CE-90F9-6024FE3ED38D}"/>
              </a:ext>
            </a:extLst>
          </p:cNvPr>
          <p:cNvSpPr/>
          <p:nvPr/>
        </p:nvSpPr>
        <p:spPr>
          <a:xfrm>
            <a:off x="2751438" y="4095679"/>
            <a:ext cx="2938374" cy="5586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3670C57E-00EC-44C3-9EB4-0A3542D0FD3C}"/>
              </a:ext>
            </a:extLst>
          </p:cNvPr>
          <p:cNvSpPr/>
          <p:nvPr/>
        </p:nvSpPr>
        <p:spPr>
          <a:xfrm>
            <a:off x="6099646" y="1070214"/>
            <a:ext cx="5273455" cy="4949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spc="-1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Controller </a:t>
            </a:r>
            <a:r>
              <a:rPr lang="ko-KR" altLang="en-US" sz="2000" spc="-1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생성</a:t>
            </a:r>
            <a:endParaRPr lang="en-US" altLang="ko-KR" sz="2000" spc="-15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6099646" y="1692462"/>
            <a:ext cx="5273455" cy="267765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/>
              <a:t>package </a:t>
            </a:r>
            <a:r>
              <a:rPr lang="en-US" altLang="ko-KR" sz="1200" dirty="0" err="1"/>
              <a:t>com.java.controller</a:t>
            </a:r>
            <a:r>
              <a:rPr lang="en-US" altLang="ko-KR" sz="1200" dirty="0"/>
              <a:t>;</a:t>
            </a:r>
          </a:p>
          <a:p>
            <a:endParaRPr lang="en-US" altLang="ko-KR" sz="1200" dirty="0"/>
          </a:p>
          <a:p>
            <a:r>
              <a:rPr lang="en-US" altLang="ko-KR" sz="1200" dirty="0"/>
              <a:t>import </a:t>
            </a:r>
            <a:r>
              <a:rPr lang="en-US" altLang="ko-KR" sz="1200" dirty="0" err="1"/>
              <a:t>org.springframework.stereotype.Controller</a:t>
            </a:r>
            <a:r>
              <a:rPr lang="en-US" altLang="ko-KR" sz="1200" dirty="0"/>
              <a:t>;</a:t>
            </a:r>
          </a:p>
          <a:p>
            <a:r>
              <a:rPr lang="en-US" altLang="ko-KR" sz="1200" dirty="0"/>
              <a:t>import </a:t>
            </a:r>
            <a:r>
              <a:rPr lang="en-US" altLang="ko-KR" sz="1200" dirty="0" err="1"/>
              <a:t>org.springframework.web.bind.annotation.RequestMapping</a:t>
            </a:r>
            <a:r>
              <a:rPr lang="en-US" altLang="ko-KR" sz="1200" dirty="0"/>
              <a:t>;</a:t>
            </a:r>
          </a:p>
          <a:p>
            <a:endParaRPr lang="en-US" altLang="ko-KR" sz="1200" dirty="0"/>
          </a:p>
          <a:p>
            <a:r>
              <a:rPr lang="en-US" altLang="ko-KR" sz="1200" dirty="0"/>
              <a:t>@Controller</a:t>
            </a:r>
          </a:p>
          <a:p>
            <a:r>
              <a:rPr lang="en-US" altLang="ko-KR" sz="1200" dirty="0"/>
              <a:t>public class </a:t>
            </a:r>
            <a:r>
              <a:rPr lang="en-US" altLang="ko-KR" sz="1200" dirty="0" err="1" smtClean="0"/>
              <a:t>MController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{</a:t>
            </a:r>
          </a:p>
          <a:p>
            <a:r>
              <a:rPr lang="en-US" altLang="ko-KR" sz="1200" dirty="0"/>
              <a:t>	</a:t>
            </a:r>
          </a:p>
          <a:p>
            <a:r>
              <a:rPr lang="en-US" altLang="ko-KR" sz="1200" dirty="0"/>
              <a:t>	@</a:t>
            </a:r>
            <a:r>
              <a:rPr lang="en-US" altLang="ko-KR" sz="1200" dirty="0" err="1"/>
              <a:t>RequestMapping</a:t>
            </a:r>
            <a:r>
              <a:rPr lang="en-US" altLang="ko-KR" sz="1200" dirty="0"/>
              <a:t>("/index")</a:t>
            </a:r>
          </a:p>
          <a:p>
            <a:r>
              <a:rPr lang="en-US" altLang="ko-KR" sz="1200" dirty="0"/>
              <a:t>	public String index() {</a:t>
            </a:r>
          </a:p>
          <a:p>
            <a:r>
              <a:rPr lang="en-US" altLang="ko-KR" sz="1200" dirty="0"/>
              <a:t>		return "index";</a:t>
            </a:r>
          </a:p>
          <a:p>
            <a:r>
              <a:rPr lang="en-US" altLang="ko-KR" sz="1200" dirty="0"/>
              <a:t>	}</a:t>
            </a:r>
          </a:p>
          <a:p>
            <a:endParaRPr lang="en-US" altLang="ko-KR" sz="1200" dirty="0"/>
          </a:p>
          <a:p>
            <a:r>
              <a:rPr lang="en-US" altLang="ko-KR" sz="1200" dirty="0"/>
              <a:t>}</a:t>
            </a:r>
          </a:p>
        </p:txBody>
      </p:sp>
      <p:sp>
        <p:nvSpPr>
          <p:cNvPr id="23" name="타원 22"/>
          <p:cNvSpPr/>
          <p:nvPr/>
        </p:nvSpPr>
        <p:spPr>
          <a:xfrm>
            <a:off x="5985822" y="925519"/>
            <a:ext cx="227647" cy="2371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4</a:t>
            </a:r>
            <a:endParaRPr lang="ko-KR" altLang="en-US" sz="1200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xmlns="" id="{E91121EB-3538-48E8-B63C-08FD6BCCC8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0383"/>
          <a:stretch/>
        </p:blipFill>
        <p:spPr>
          <a:xfrm>
            <a:off x="6099646" y="4485012"/>
            <a:ext cx="3045112" cy="14050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7140988B-2C0A-44CE-90F9-6024FE3ED38D}"/>
              </a:ext>
            </a:extLst>
          </p:cNvPr>
          <p:cNvSpPr/>
          <p:nvPr/>
        </p:nvSpPr>
        <p:spPr>
          <a:xfrm>
            <a:off x="6099646" y="4880862"/>
            <a:ext cx="3045112" cy="77029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4900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3670C57E-00EC-44C3-9EB4-0A3542D0FD3C}"/>
              </a:ext>
            </a:extLst>
          </p:cNvPr>
          <p:cNvSpPr/>
          <p:nvPr/>
        </p:nvSpPr>
        <p:spPr>
          <a:xfrm>
            <a:off x="416357" y="1070214"/>
            <a:ext cx="5004139" cy="4949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pc="-15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Gradle</a:t>
            </a:r>
            <a:r>
              <a:rPr lang="en-US" altLang="ko-KR" spc="-1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pc="-1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다운로드 </a:t>
            </a:r>
            <a:r>
              <a:rPr lang="en-US" altLang="ko-KR" spc="-1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/ pom.xml </a:t>
            </a:r>
            <a:r>
              <a:rPr lang="ko-KR" altLang="en-US" spc="-1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대체</a:t>
            </a:r>
            <a:endParaRPr lang="ko-KR" altLang="en-US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xmlns="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xmlns="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스프링부트 프로젝트 파일생성 </a:t>
            </a:r>
            <a:r>
              <a:rPr lang="en-US" altLang="ko-KR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– </a:t>
            </a:r>
            <a:r>
              <a:rPr lang="en-US" altLang="ko-KR" sz="3300" spc="-3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gradle</a:t>
            </a:r>
            <a:r>
              <a:rPr lang="en-US" altLang="ko-KR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설정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smtClean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2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xmlns="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62C1F71-B995-70E1-D45F-D4AA8F77E3C7}"/>
              </a:ext>
            </a:extLst>
          </p:cNvPr>
          <p:cNvSpPr txBox="1"/>
          <p:nvPr/>
        </p:nvSpPr>
        <p:spPr>
          <a:xfrm>
            <a:off x="428367" y="1697478"/>
            <a:ext cx="4992129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+mn-ea"/>
              </a:rPr>
              <a:t>사이트 </a:t>
            </a:r>
            <a:r>
              <a:rPr lang="en-US" altLang="ko-KR" sz="1200" dirty="0">
                <a:latin typeface="+mn-ea"/>
              </a:rPr>
              <a:t>: </a:t>
            </a:r>
            <a:r>
              <a:rPr lang="en-US" altLang="ko-KR" sz="1200" b="0" i="0" u="none" strike="noStrike" dirty="0">
                <a:effectLst/>
                <a:latin typeface="AppleSDGothicNeo"/>
                <a:hlinkClick r:id="rId2"/>
              </a:rPr>
              <a:t>https://gradle.org/releases/</a:t>
            </a:r>
            <a:endParaRPr lang="en-US" altLang="ko-KR" sz="1200" b="0" i="0" u="none" strike="noStrike" dirty="0">
              <a:effectLst/>
              <a:latin typeface="AppleSDGothicNeo"/>
            </a:endParaRPr>
          </a:p>
          <a:p>
            <a:endParaRPr lang="en-US" altLang="ko-KR" sz="1200" dirty="0">
              <a:latin typeface="AppleSDGothicNeo"/>
            </a:endParaRPr>
          </a:p>
          <a:p>
            <a:pPr algn="l" latinLnBrk="1"/>
            <a:r>
              <a:rPr lang="ko-KR" altLang="en-US" sz="1200" b="0" i="0" dirty="0">
                <a:effectLst/>
                <a:latin typeface="AppleSDGothicNeo"/>
              </a:rPr>
              <a:t> </a:t>
            </a:r>
            <a:r>
              <a:rPr lang="en-US" altLang="ko-KR" sz="1200" b="0" i="0" dirty="0" smtClean="0">
                <a:effectLst/>
                <a:latin typeface="AppleSDGothicNeo"/>
              </a:rPr>
              <a:t>1. </a:t>
            </a:r>
            <a:r>
              <a:rPr lang="en-US" altLang="ko-KR" sz="1200" b="0" i="0" dirty="0" err="1">
                <a:effectLst/>
                <a:latin typeface="AppleSDGothicNeo"/>
              </a:rPr>
              <a:t>gradle</a:t>
            </a:r>
            <a:r>
              <a:rPr lang="en-US" altLang="ko-KR" sz="1200" b="0" i="0" dirty="0">
                <a:effectLst/>
                <a:latin typeface="AppleSDGothicNeo"/>
              </a:rPr>
              <a:t> </a:t>
            </a:r>
            <a:r>
              <a:rPr lang="ko-KR" altLang="en-US" sz="1200" b="0" i="0" dirty="0">
                <a:effectLst/>
                <a:latin typeface="AppleSDGothicNeo"/>
              </a:rPr>
              <a:t>사이트에 접속하여 </a:t>
            </a:r>
            <a:r>
              <a:rPr lang="en-US" altLang="ko-KR" sz="1200" b="0" i="0" dirty="0">
                <a:effectLst/>
                <a:latin typeface="AppleSDGothicNeo"/>
              </a:rPr>
              <a:t>binary-only </a:t>
            </a:r>
            <a:r>
              <a:rPr lang="ko-KR" altLang="en-US" sz="1200" b="0" i="0" dirty="0">
                <a:effectLst/>
                <a:latin typeface="AppleSDGothicNeo"/>
              </a:rPr>
              <a:t>로 파일을 </a:t>
            </a:r>
            <a:r>
              <a:rPr lang="ko-KR" altLang="en-US" sz="1200" b="0" i="0" dirty="0" smtClean="0">
                <a:effectLst/>
                <a:latin typeface="AppleSDGothicNeo"/>
              </a:rPr>
              <a:t>다운로드</a:t>
            </a:r>
            <a:r>
              <a:rPr lang="en-US" altLang="ko-KR" sz="1200" b="0" i="0" dirty="0" smtClean="0">
                <a:effectLst/>
                <a:latin typeface="AppleSDGothicNeo"/>
              </a:rPr>
              <a:t>.</a:t>
            </a:r>
            <a:endParaRPr lang="en-US" altLang="ko-KR" sz="1200" b="0" i="0" dirty="0">
              <a:effectLst/>
              <a:latin typeface="AppleSDGothicNeo"/>
            </a:endParaRPr>
          </a:p>
          <a:p>
            <a:pPr algn="l" latinLnBrk="1"/>
            <a:r>
              <a:rPr lang="en-US" altLang="ko-KR" sz="1200" b="0" i="0" dirty="0">
                <a:effectLst/>
                <a:latin typeface="AppleSDGothicNeo"/>
              </a:rPr>
              <a:t> </a:t>
            </a:r>
            <a:r>
              <a:rPr lang="en-US" altLang="ko-KR" sz="1200" b="0" i="0" dirty="0" smtClean="0">
                <a:effectLst/>
                <a:latin typeface="AppleSDGothicNeo"/>
              </a:rPr>
              <a:t>2. </a:t>
            </a:r>
            <a:r>
              <a:rPr lang="en-US" altLang="ko-KR" sz="1200" b="0" i="0" dirty="0">
                <a:effectLst/>
                <a:latin typeface="AppleSDGothicNeo"/>
              </a:rPr>
              <a:t>gradle-7.4.2-bin.zip </a:t>
            </a:r>
            <a:r>
              <a:rPr lang="ko-KR" altLang="en-US" sz="1200" b="0" i="0" dirty="0">
                <a:effectLst/>
                <a:latin typeface="AppleSDGothicNeo"/>
              </a:rPr>
              <a:t>파일이 </a:t>
            </a:r>
            <a:r>
              <a:rPr lang="ko-KR" altLang="en-US" sz="1200" b="0" i="0" dirty="0" smtClean="0">
                <a:effectLst/>
                <a:latin typeface="AppleSDGothicNeo"/>
              </a:rPr>
              <a:t>다운</a:t>
            </a:r>
            <a:r>
              <a:rPr lang="en-US" altLang="ko-KR" sz="1200" b="0" i="0" dirty="0" smtClean="0">
                <a:effectLst/>
                <a:latin typeface="AppleSDGothicNeo"/>
              </a:rPr>
              <a:t/>
            </a:r>
            <a:br>
              <a:rPr lang="en-US" altLang="ko-KR" sz="1200" b="0" i="0" dirty="0" smtClean="0">
                <a:effectLst/>
                <a:latin typeface="AppleSDGothicNeo"/>
              </a:rPr>
            </a:br>
            <a:r>
              <a:rPr lang="en-US" altLang="ko-KR" sz="1200" b="0" i="0" dirty="0" smtClean="0">
                <a:effectLst/>
                <a:latin typeface="AppleSDGothicNeo"/>
              </a:rPr>
              <a:t> 3. </a:t>
            </a:r>
            <a:r>
              <a:rPr lang="ko-KR" altLang="en-US" sz="1200" b="0" i="0" dirty="0" smtClean="0">
                <a:effectLst/>
                <a:latin typeface="AppleSDGothicNeo"/>
              </a:rPr>
              <a:t>해당 </a:t>
            </a:r>
            <a:r>
              <a:rPr lang="ko-KR" altLang="en-US" sz="1200" b="0" i="0" dirty="0">
                <a:effectLst/>
                <a:latin typeface="AppleSDGothicNeo"/>
              </a:rPr>
              <a:t>압축 파일을 원하는 폴더에 압축을 </a:t>
            </a:r>
            <a:r>
              <a:rPr lang="ko-KR" altLang="en-US" sz="1200" b="0" i="0" dirty="0" smtClean="0">
                <a:effectLst/>
                <a:latin typeface="AppleSDGothicNeo"/>
              </a:rPr>
              <a:t>풀어줌</a:t>
            </a:r>
            <a:endParaRPr lang="en-US" altLang="ko-KR" sz="1200" b="0" i="0" dirty="0">
              <a:effectLst/>
              <a:latin typeface="AppleSDGothicNe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31879119-6F88-EF38-8BA7-8E8174A74ACD}"/>
              </a:ext>
            </a:extLst>
          </p:cNvPr>
          <p:cNvSpPr txBox="1"/>
          <p:nvPr/>
        </p:nvSpPr>
        <p:spPr>
          <a:xfrm>
            <a:off x="428368" y="2847705"/>
            <a:ext cx="4992128" cy="5627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b="1" dirty="0" err="1">
                <a:solidFill>
                  <a:srgbClr val="FF0000"/>
                </a:solidFill>
                <a:latin typeface="+mn-ea"/>
              </a:rPr>
              <a:t>Gradle</a:t>
            </a:r>
            <a:r>
              <a:rPr lang="en-US" altLang="ko-KR" b="1" dirty="0">
                <a:solidFill>
                  <a:srgbClr val="FF0000"/>
                </a:solidFill>
                <a:latin typeface="+mn-ea"/>
              </a:rPr>
              <a:t> 8.8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및 </a:t>
            </a:r>
            <a:r>
              <a:rPr lang="en-US" altLang="ko-KR" b="1" dirty="0">
                <a:solidFill>
                  <a:srgbClr val="FF0000"/>
                </a:solidFill>
                <a:latin typeface="+mn-ea"/>
              </a:rPr>
              <a:t>Java 21 </a:t>
            </a:r>
            <a:r>
              <a:rPr lang="ko-KR" altLang="en-US" b="1" dirty="0" smtClean="0">
                <a:solidFill>
                  <a:srgbClr val="FF0000"/>
                </a:solidFill>
                <a:latin typeface="+mn-ea"/>
              </a:rPr>
              <a:t>지원 </a:t>
            </a:r>
            <a:r>
              <a:rPr lang="en-US" altLang="ko-KR" b="1" dirty="0" smtClean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에러 없음</a:t>
            </a:r>
            <a:r>
              <a:rPr lang="en-US" altLang="ko-KR" b="1" dirty="0">
                <a:solidFill>
                  <a:srgbClr val="FF0000"/>
                </a:solidFill>
                <a:latin typeface="+mn-ea"/>
              </a:rPr>
              <a:t>)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="" xmlns:a16="http://schemas.microsoft.com/office/drawing/2014/main" id="{DAAA13D7-BECD-F123-25FD-CD415DC45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7590" y="1697478"/>
            <a:ext cx="6259380" cy="3545679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49822761-A437-19A5-7B70-9A6C8783F5D1}"/>
              </a:ext>
            </a:extLst>
          </p:cNvPr>
          <p:cNvSpPr txBox="1"/>
          <p:nvPr/>
        </p:nvSpPr>
        <p:spPr>
          <a:xfrm>
            <a:off x="9844216" y="6581001"/>
            <a:ext cx="23477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https://gamma86.tistory.com/5</a:t>
            </a:r>
          </a:p>
        </p:txBody>
      </p:sp>
    </p:spTree>
    <p:extLst>
      <p:ext uri="{BB962C8B-B14F-4D97-AF65-F5344CB8AC3E}">
        <p14:creationId xmlns:p14="http://schemas.microsoft.com/office/powerpoint/2010/main" val="110891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3670C57E-00EC-44C3-9EB4-0A3542D0FD3C}"/>
              </a:ext>
            </a:extLst>
          </p:cNvPr>
          <p:cNvSpPr/>
          <p:nvPr/>
        </p:nvSpPr>
        <p:spPr>
          <a:xfrm>
            <a:off x="416357" y="1070214"/>
            <a:ext cx="5004139" cy="4949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pc="-1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STS </a:t>
            </a:r>
            <a:r>
              <a:rPr lang="en-US" altLang="ko-KR" spc="-1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gradle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연동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xmlns="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xmlns="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스프링부트 프로젝트 파일생성 </a:t>
            </a:r>
            <a:r>
              <a:rPr lang="en-US" altLang="ko-KR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– </a:t>
            </a:r>
            <a:r>
              <a:rPr lang="en-US" altLang="ko-KR" sz="3300" spc="-3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gradle</a:t>
            </a:r>
            <a:r>
              <a:rPr lang="en-US" altLang="ko-KR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설정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smtClean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2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xmlns="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62C1F71-B995-70E1-D45F-D4AA8F77E3C7}"/>
              </a:ext>
            </a:extLst>
          </p:cNvPr>
          <p:cNvSpPr txBox="1"/>
          <p:nvPr/>
        </p:nvSpPr>
        <p:spPr>
          <a:xfrm>
            <a:off x="428367" y="1697478"/>
            <a:ext cx="4992129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AppleSDGothicNeo"/>
              </a:rPr>
              <a:t>1. STS4 </a:t>
            </a:r>
            <a:r>
              <a:rPr lang="ko-KR" altLang="en-US" sz="1200" dirty="0">
                <a:latin typeface="AppleSDGothicNeo"/>
              </a:rPr>
              <a:t>를 실행 후 환경 설정에서 </a:t>
            </a:r>
            <a:r>
              <a:rPr lang="en-US" altLang="ko-KR" sz="1200" dirty="0" err="1">
                <a:latin typeface="AppleSDGothicNeo"/>
              </a:rPr>
              <a:t>gradle</a:t>
            </a:r>
            <a:r>
              <a:rPr lang="en-US" altLang="ko-KR" sz="1200" dirty="0">
                <a:latin typeface="AppleSDGothicNeo"/>
              </a:rPr>
              <a:t> </a:t>
            </a:r>
            <a:r>
              <a:rPr lang="ko-KR" altLang="en-US" sz="1200" dirty="0">
                <a:latin typeface="AppleSDGothicNeo"/>
              </a:rPr>
              <a:t>을 수동으로 </a:t>
            </a:r>
            <a:r>
              <a:rPr lang="ko-KR" altLang="en-US" sz="1200" dirty="0" smtClean="0">
                <a:latin typeface="AppleSDGothicNeo"/>
              </a:rPr>
              <a:t>설정</a:t>
            </a:r>
            <a:endParaRPr lang="en-US" altLang="ko-KR" sz="1200" dirty="0">
              <a:latin typeface="AppleSDGothicNeo"/>
            </a:endParaRPr>
          </a:p>
          <a:p>
            <a:endParaRPr lang="en-US" altLang="ko-KR" sz="1200" dirty="0">
              <a:latin typeface="AppleSDGothicNeo"/>
            </a:endParaRPr>
          </a:p>
          <a:p>
            <a:r>
              <a:rPr lang="en-US" altLang="ko-KR" sz="1200" dirty="0" smtClean="0">
                <a:latin typeface="AppleSDGothicNeo"/>
              </a:rPr>
              <a:t>2. STS4 </a:t>
            </a:r>
            <a:r>
              <a:rPr lang="ko-KR" altLang="en-US" sz="1200" dirty="0" smtClean="0">
                <a:latin typeface="AppleSDGothicNeo"/>
              </a:rPr>
              <a:t>실행 후 </a:t>
            </a:r>
            <a:r>
              <a:rPr lang="en-US" altLang="ko-KR" sz="1200" dirty="0">
                <a:latin typeface="AppleSDGothicNeo"/>
              </a:rPr>
              <a:t>Window -&gt; Preferences </a:t>
            </a:r>
            <a:r>
              <a:rPr lang="ko-KR" altLang="en-US" sz="1200" dirty="0">
                <a:latin typeface="AppleSDGothicNeo"/>
              </a:rPr>
              <a:t>창을 </a:t>
            </a:r>
            <a:r>
              <a:rPr lang="ko-KR" altLang="en-US" sz="1200" dirty="0" smtClean="0">
                <a:latin typeface="AppleSDGothicNeo"/>
              </a:rPr>
              <a:t>열어 </a:t>
            </a:r>
            <a:r>
              <a:rPr lang="ko-KR" altLang="en-US" sz="1200" dirty="0">
                <a:latin typeface="AppleSDGothicNeo"/>
              </a:rPr>
              <a:t>줌</a:t>
            </a:r>
            <a:endParaRPr lang="en-US" altLang="ko-KR" sz="1200" dirty="0">
              <a:latin typeface="AppleSDGothicNeo"/>
            </a:endParaRP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 smtClean="0">
                <a:latin typeface="AppleSDGothicNeo"/>
              </a:rPr>
              <a:t>3. </a:t>
            </a:r>
            <a:r>
              <a:rPr lang="ko-KR" altLang="en-US" sz="1200" dirty="0" smtClean="0">
                <a:latin typeface="AppleSDGothicNeo"/>
              </a:rPr>
              <a:t>좌측 </a:t>
            </a:r>
            <a:r>
              <a:rPr lang="ko-KR" altLang="en-US" sz="1200" dirty="0">
                <a:latin typeface="AppleSDGothicNeo"/>
              </a:rPr>
              <a:t>메뉴에서 </a:t>
            </a:r>
            <a:r>
              <a:rPr lang="en-US" altLang="ko-KR" sz="1200" dirty="0" err="1">
                <a:latin typeface="AppleSDGothicNeo"/>
              </a:rPr>
              <a:t>Gradle</a:t>
            </a:r>
            <a:r>
              <a:rPr lang="en-US" altLang="ko-KR" sz="1200" dirty="0">
                <a:latin typeface="AppleSDGothicNeo"/>
              </a:rPr>
              <a:t> </a:t>
            </a:r>
            <a:r>
              <a:rPr lang="ko-KR" altLang="en-US" sz="1200" dirty="0">
                <a:latin typeface="AppleSDGothicNeo"/>
              </a:rPr>
              <a:t>을 선택</a:t>
            </a:r>
            <a:r>
              <a:rPr lang="en-US" altLang="ko-KR" sz="1200" dirty="0">
                <a:latin typeface="AppleSDGothicNeo"/>
              </a:rPr>
              <a:t>, </a:t>
            </a:r>
            <a:r>
              <a:rPr lang="en-US" altLang="ko-KR" sz="1200" dirty="0" smtClean="0">
                <a:latin typeface="AppleSDGothicNeo"/>
              </a:rPr>
              <a:t/>
            </a:r>
            <a:br>
              <a:rPr lang="en-US" altLang="ko-KR" sz="1200" dirty="0" smtClean="0">
                <a:latin typeface="AppleSDGothicNeo"/>
              </a:rPr>
            </a:br>
            <a:r>
              <a:rPr lang="en-US" altLang="ko-KR" sz="1200" dirty="0" smtClean="0">
                <a:latin typeface="AppleSDGothicNeo"/>
              </a:rPr>
              <a:t>   Local </a:t>
            </a:r>
            <a:r>
              <a:rPr lang="en-US" altLang="ko-KR" sz="1200" dirty="0">
                <a:latin typeface="AppleSDGothicNeo"/>
              </a:rPr>
              <a:t>installation directory </a:t>
            </a:r>
            <a:r>
              <a:rPr lang="ko-KR" altLang="en-US" sz="1200" dirty="0">
                <a:latin typeface="AppleSDGothicNeo"/>
              </a:rPr>
              <a:t>에 </a:t>
            </a:r>
            <a:r>
              <a:rPr lang="en-US" altLang="ko-KR" sz="1200" dirty="0" err="1">
                <a:latin typeface="AppleSDGothicNeo"/>
              </a:rPr>
              <a:t>gradle</a:t>
            </a:r>
            <a:r>
              <a:rPr lang="en-US" altLang="ko-KR" sz="1200" dirty="0">
                <a:latin typeface="AppleSDGothicNeo"/>
              </a:rPr>
              <a:t> </a:t>
            </a:r>
            <a:r>
              <a:rPr lang="ko-KR" altLang="en-US" sz="1200" dirty="0">
                <a:latin typeface="AppleSDGothicNeo"/>
              </a:rPr>
              <a:t>을 수동 설치한 경로를 </a:t>
            </a:r>
            <a:r>
              <a:rPr lang="ko-KR" altLang="en-US" sz="1200" dirty="0" smtClean="0">
                <a:latin typeface="AppleSDGothicNeo"/>
              </a:rPr>
              <a:t>지정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49822761-A437-19A5-7B70-9A6C8783F5D1}"/>
              </a:ext>
            </a:extLst>
          </p:cNvPr>
          <p:cNvSpPr txBox="1"/>
          <p:nvPr/>
        </p:nvSpPr>
        <p:spPr>
          <a:xfrm>
            <a:off x="9844216" y="6581001"/>
            <a:ext cx="23477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https://gamma86.tistory.com/5</a:t>
            </a:r>
          </a:p>
        </p:txBody>
      </p:sp>
      <p:pic>
        <p:nvPicPr>
          <p:cNvPr id="12" name="Picture 4">
            <a:extLst>
              <a:ext uri="{FF2B5EF4-FFF2-40B4-BE49-F238E27FC236}">
                <a16:creationId xmlns="" xmlns:a16="http://schemas.microsoft.com/office/drawing/2014/main" id="{7098BDBF-1721-BF88-827C-D9BD9AC20C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299091" y="3262264"/>
            <a:ext cx="3500161" cy="2566257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>
            <a:extLst>
              <a:ext uri="{FF2B5EF4-FFF2-40B4-BE49-F238E27FC236}">
                <a16:creationId xmlns="" xmlns:a16="http://schemas.microsoft.com/office/drawing/2014/main" id="{E56B6C1D-7EAA-7766-6779-1B6B803D7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9127" y="1697477"/>
            <a:ext cx="4694236" cy="5094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화살표: 오른쪽 5">
            <a:extLst>
              <a:ext uri="{FF2B5EF4-FFF2-40B4-BE49-F238E27FC236}">
                <a16:creationId xmlns="" xmlns:a16="http://schemas.microsoft.com/office/drawing/2014/main" id="{45D9CB57-5B5A-AB29-475C-65B13B26DA07}"/>
              </a:ext>
            </a:extLst>
          </p:cNvPr>
          <p:cNvSpPr/>
          <p:nvPr/>
        </p:nvSpPr>
        <p:spPr>
          <a:xfrm>
            <a:off x="5039268" y="3987114"/>
            <a:ext cx="587239" cy="7480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008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3670C57E-00EC-44C3-9EB4-0A3542D0FD3C}"/>
              </a:ext>
            </a:extLst>
          </p:cNvPr>
          <p:cNvSpPr/>
          <p:nvPr/>
        </p:nvSpPr>
        <p:spPr>
          <a:xfrm>
            <a:off x="416357" y="1070214"/>
            <a:ext cx="5004139" cy="4949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pc="-15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gradle</a:t>
            </a:r>
            <a:r>
              <a:rPr lang="en-US" altLang="ko-KR" spc="-1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pc="-1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설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정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xmlns="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xmlns="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스프링부트 프로젝트 파일생성 </a:t>
            </a:r>
            <a:r>
              <a:rPr lang="en-US" altLang="ko-KR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– </a:t>
            </a:r>
            <a:r>
              <a:rPr lang="en-US" altLang="ko-KR" sz="3300" spc="-3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gradle</a:t>
            </a:r>
            <a:r>
              <a:rPr lang="en-US" altLang="ko-KR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설정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smtClean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2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xmlns="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="" xmlns:a16="http://schemas.microsoft.com/office/drawing/2014/main" id="{87898470-C126-7DB8-AB68-9F8D2C7E2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22" y="1807905"/>
            <a:ext cx="2537547" cy="375075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9" name="직사각형 18">
            <a:extLst>
              <a:ext uri="{FF2B5EF4-FFF2-40B4-BE49-F238E27FC236}">
                <a16:creationId xmlns="" xmlns:a16="http://schemas.microsoft.com/office/drawing/2014/main" id="{C7096672-A44A-4A10-95D9-4386E4EC5E62}"/>
              </a:ext>
            </a:extLst>
          </p:cNvPr>
          <p:cNvSpPr/>
          <p:nvPr/>
        </p:nvSpPr>
        <p:spPr>
          <a:xfrm>
            <a:off x="677008" y="4607752"/>
            <a:ext cx="2031612" cy="24249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EE7ABBA4-1C64-42C6-B116-03BE994494EF}"/>
              </a:ext>
            </a:extLst>
          </p:cNvPr>
          <p:cNvSpPr txBox="1"/>
          <p:nvPr/>
        </p:nvSpPr>
        <p:spPr>
          <a:xfrm>
            <a:off x="3581400" y="1807905"/>
            <a:ext cx="7935097" cy="184665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/>
              <a:t>// JSP</a:t>
            </a:r>
          </a:p>
          <a:p>
            <a:r>
              <a:rPr lang="en-US" altLang="ko-KR" sz="1600" dirty="0"/>
              <a:t>implementation '</a:t>
            </a:r>
            <a:r>
              <a:rPr lang="en-US" altLang="ko-KR" sz="1600" dirty="0" err="1"/>
              <a:t>org.apache.tomcat.embed:tomcat-embed-jasper</a:t>
            </a:r>
            <a:r>
              <a:rPr lang="en-US" altLang="ko-KR" sz="1600" dirty="0"/>
              <a:t>'</a:t>
            </a:r>
          </a:p>
          <a:p>
            <a:r>
              <a:rPr lang="en-US" altLang="ko-KR" sz="1600" dirty="0"/>
              <a:t>// JSTL</a:t>
            </a:r>
          </a:p>
          <a:p>
            <a:r>
              <a:rPr lang="en-US" altLang="ko-KR" sz="1600" dirty="0"/>
              <a:t>implementation 'javax.servlet:jstl:1.2'</a:t>
            </a:r>
          </a:p>
          <a:p>
            <a:r>
              <a:rPr lang="en-US" altLang="ko-KR" sz="1600" dirty="0"/>
              <a:t>implementation '</a:t>
            </a:r>
            <a:r>
              <a:rPr lang="en-US" altLang="ko-KR" sz="1600" dirty="0" err="1"/>
              <a:t>jakarta.servlet:jakarta.servlet-api</a:t>
            </a:r>
            <a:r>
              <a:rPr lang="en-US" altLang="ko-KR" sz="1600" dirty="0"/>
              <a:t>' //</a:t>
            </a:r>
            <a:r>
              <a:rPr lang="ko-KR" altLang="en-US" sz="1600" dirty="0"/>
              <a:t>스프링부트 </a:t>
            </a:r>
            <a:r>
              <a:rPr lang="en-US" altLang="ko-KR" sz="1600" dirty="0"/>
              <a:t>3.0 </a:t>
            </a:r>
            <a:r>
              <a:rPr lang="ko-KR" altLang="en-US" sz="1600" dirty="0"/>
              <a:t>이상 </a:t>
            </a:r>
          </a:p>
          <a:p>
            <a:r>
              <a:rPr lang="en-US" altLang="ko-KR" sz="1600" dirty="0"/>
              <a:t>implementation '</a:t>
            </a:r>
            <a:r>
              <a:rPr lang="en-US" altLang="ko-KR" sz="1600" dirty="0" err="1"/>
              <a:t>jakarta.servlet.jsp.jstl:jakarta.servlet.jsp.jstl-api</a:t>
            </a:r>
            <a:r>
              <a:rPr lang="en-US" altLang="ko-KR" sz="1600" dirty="0"/>
              <a:t>' //</a:t>
            </a:r>
            <a:r>
              <a:rPr lang="ko-KR" altLang="en-US" sz="1600" dirty="0"/>
              <a:t>스프링부트 </a:t>
            </a:r>
            <a:r>
              <a:rPr lang="en-US" altLang="ko-KR" sz="1600" dirty="0"/>
              <a:t>3.0 </a:t>
            </a:r>
            <a:r>
              <a:rPr lang="ko-KR" altLang="en-US" sz="1600" dirty="0"/>
              <a:t>이상</a:t>
            </a:r>
          </a:p>
          <a:p>
            <a:r>
              <a:rPr lang="en-US" altLang="ko-KR" sz="1600" dirty="0"/>
              <a:t>implementation '</a:t>
            </a:r>
            <a:r>
              <a:rPr lang="en-US" altLang="ko-KR" sz="1600" dirty="0" err="1"/>
              <a:t>org.glassfish.web:jakarta.servlet.jsp.jstl</a:t>
            </a:r>
            <a:r>
              <a:rPr lang="en-US" altLang="ko-KR" sz="1600" dirty="0"/>
              <a:t>' //</a:t>
            </a:r>
            <a:r>
              <a:rPr lang="ko-KR" altLang="en-US" sz="1600" dirty="0"/>
              <a:t>스프링부트 </a:t>
            </a:r>
            <a:r>
              <a:rPr lang="en-US" altLang="ko-KR" sz="1600" dirty="0"/>
              <a:t>3.0 </a:t>
            </a:r>
            <a:r>
              <a:rPr lang="ko-KR" altLang="en-US" sz="1600" dirty="0"/>
              <a:t>이상</a:t>
            </a:r>
          </a:p>
        </p:txBody>
      </p:sp>
      <p:cxnSp>
        <p:nvCxnSpPr>
          <p:cNvPr id="23" name="연결선: 꺾임 22">
            <a:extLst>
              <a:ext uri="{FF2B5EF4-FFF2-40B4-BE49-F238E27FC236}">
                <a16:creationId xmlns="" xmlns:a16="http://schemas.microsoft.com/office/drawing/2014/main" id="{91CB8728-3750-4F1D-8D12-AFEEEC140DE5}"/>
              </a:ext>
            </a:extLst>
          </p:cNvPr>
          <p:cNvCxnSpPr>
            <a:cxnSpLocks/>
            <a:endCxn id="19" idx="3"/>
          </p:cNvCxnSpPr>
          <p:nvPr/>
        </p:nvCxnSpPr>
        <p:spPr>
          <a:xfrm rot="10800000" flipV="1">
            <a:off x="2708621" y="2927815"/>
            <a:ext cx="872781" cy="180118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/>
          <p:cNvSpPr/>
          <p:nvPr/>
        </p:nvSpPr>
        <p:spPr>
          <a:xfrm>
            <a:off x="330200" y="951616"/>
            <a:ext cx="227647" cy="2371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1</a:t>
            </a:r>
            <a:endParaRPr lang="ko-KR" altLang="en-US" sz="1200" dirty="0"/>
          </a:p>
        </p:txBody>
      </p:sp>
      <p:sp>
        <p:nvSpPr>
          <p:cNvPr id="2" name="직사각형 1"/>
          <p:cNvSpPr/>
          <p:nvPr/>
        </p:nvSpPr>
        <p:spPr>
          <a:xfrm>
            <a:off x="9704173" y="1807905"/>
            <a:ext cx="1812324" cy="2845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/>
              <a:t>Build.gradle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31879119-6F88-EF38-8BA7-8E8174A74ACD}"/>
              </a:ext>
            </a:extLst>
          </p:cNvPr>
          <p:cNvSpPr txBox="1"/>
          <p:nvPr/>
        </p:nvSpPr>
        <p:spPr>
          <a:xfrm>
            <a:off x="3581399" y="3784630"/>
            <a:ext cx="7935097" cy="16029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3200" b="1" dirty="0" err="1">
                <a:solidFill>
                  <a:srgbClr val="FF0000"/>
                </a:solidFill>
                <a:latin typeface="+mj-ea"/>
                <a:ea typeface="+mj-ea"/>
              </a:rPr>
              <a:t>Gradle</a:t>
            </a:r>
            <a:r>
              <a:rPr lang="en-US" altLang="ko-KR" sz="32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altLang="en-US" sz="3200" b="1" dirty="0">
                <a:solidFill>
                  <a:srgbClr val="FF0000"/>
                </a:solidFill>
                <a:latin typeface="+mj-ea"/>
                <a:ea typeface="+mj-ea"/>
              </a:rPr>
              <a:t>추가 </a:t>
            </a:r>
            <a:r>
              <a:rPr lang="ko-KR" altLang="en-US" sz="3200" b="1" dirty="0" smtClean="0">
                <a:solidFill>
                  <a:srgbClr val="FF0000"/>
                </a:solidFill>
                <a:latin typeface="+mj-ea"/>
                <a:ea typeface="+mj-ea"/>
              </a:rPr>
              <a:t>후</a:t>
            </a:r>
            <a:endParaRPr lang="en-US" altLang="ko-KR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algn="ctr"/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반드시  </a:t>
            </a:r>
            <a:r>
              <a:rPr lang="en-US" altLang="ko-KR" b="1" dirty="0" err="1">
                <a:solidFill>
                  <a:srgbClr val="FF0000"/>
                </a:solidFill>
                <a:latin typeface="+mj-ea"/>
                <a:ea typeface="+mj-ea"/>
              </a:rPr>
              <a:t>Gradle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 &gt; Refresh </a:t>
            </a:r>
            <a:r>
              <a:rPr lang="en-US" altLang="ko-KR" b="1" dirty="0" err="1">
                <a:solidFill>
                  <a:srgbClr val="FF0000"/>
                </a:solidFill>
                <a:latin typeface="+mj-ea"/>
                <a:ea typeface="+mj-ea"/>
              </a:rPr>
              <a:t>Gradle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b="1" dirty="0" smtClean="0">
                <a:solidFill>
                  <a:srgbClr val="FF0000"/>
                </a:solidFill>
                <a:latin typeface="+mj-ea"/>
                <a:ea typeface="+mj-ea"/>
              </a:rPr>
              <a:t>Project</a:t>
            </a:r>
          </a:p>
          <a:p>
            <a:pPr algn="ctr"/>
            <a:endParaRPr lang="en-US" altLang="ko-KR" b="1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pPr algn="ctr"/>
            <a:r>
              <a:rPr lang="ko-KR" altLang="en-US" b="1" dirty="0" smtClean="0">
                <a:solidFill>
                  <a:srgbClr val="FF0000"/>
                </a:solidFill>
                <a:latin typeface="+mj-ea"/>
                <a:ea typeface="+mj-ea"/>
              </a:rPr>
              <a:t>적용 됨</a:t>
            </a:r>
            <a:r>
              <a:rPr lang="en-US" altLang="ko-KR" b="1" dirty="0" smtClean="0">
                <a:solidFill>
                  <a:srgbClr val="FF0000"/>
                </a:solidFill>
                <a:latin typeface="+mj-ea"/>
                <a:ea typeface="+mj-ea"/>
              </a:rPr>
              <a:t>.</a:t>
            </a:r>
            <a:endParaRPr lang="en-US" altLang="ko-KR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03435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3670C57E-00EC-44C3-9EB4-0A3542D0FD3C}"/>
              </a:ext>
            </a:extLst>
          </p:cNvPr>
          <p:cNvSpPr/>
          <p:nvPr/>
        </p:nvSpPr>
        <p:spPr>
          <a:xfrm>
            <a:off x="416357" y="1070214"/>
            <a:ext cx="10976573" cy="4949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spc="-1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Lombok </a:t>
            </a:r>
            <a:r>
              <a:rPr lang="ko-KR" altLang="en-US" sz="2000" spc="-1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설치방법</a:t>
            </a:r>
            <a:endParaRPr lang="ko-KR" altLang="en-US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xmlns="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xmlns="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Lombok </a:t>
            </a:r>
            <a:r>
              <a:rPr lang="ko-KR" altLang="en-US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설치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smtClean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3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xmlns="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 descr="https://blog.kakaocdn.net/dn/bzqe05/btqCxQf3KUD/mku9fh9QSWkoTPPIkN5iCK/img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357" y="2021214"/>
            <a:ext cx="3937000" cy="206864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https://blog.kakaocdn.net/dn/dJD9m4/btqCB8N9e3D/4zskm1Ep3Ximi7Drn24f4K/img.png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984750" y="2383160"/>
            <a:ext cx="4801801" cy="91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3DA4735F-59E9-4004-8A82-7DA5D2004F5F}"/>
              </a:ext>
            </a:extLst>
          </p:cNvPr>
          <p:cNvSpPr txBox="1"/>
          <p:nvPr/>
        </p:nvSpPr>
        <p:spPr>
          <a:xfrm>
            <a:off x="4984750" y="1933237"/>
            <a:ext cx="6273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FF0000"/>
                </a:solidFill>
                <a:latin typeface="+mn-ea"/>
              </a:rPr>
              <a:t>* </a:t>
            </a:r>
            <a:r>
              <a:rPr lang="en-US" altLang="ko-KR" sz="1600" b="1" dirty="0" err="1" smtClean="0">
                <a:solidFill>
                  <a:srgbClr val="FF0000"/>
                </a:solidFill>
                <a:latin typeface="+mn-ea"/>
              </a:rPr>
              <a:t>Cmd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에서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 &gt; jar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파일 </a:t>
            </a:r>
            <a:r>
              <a:rPr lang="ko-KR" altLang="en-US" sz="1600" b="1" dirty="0" smtClean="0">
                <a:solidFill>
                  <a:srgbClr val="FF0000"/>
                </a:solidFill>
                <a:latin typeface="+mn-ea"/>
              </a:rPr>
              <a:t>설치 </a:t>
            </a:r>
            <a:r>
              <a:rPr lang="en-US" altLang="ko-KR" sz="1600" b="1" dirty="0" smtClean="0">
                <a:solidFill>
                  <a:srgbClr val="FF0000"/>
                </a:solidFill>
                <a:latin typeface="+mn-ea"/>
              </a:rPr>
              <a:t>: java –jar c:\down\lombok.jar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18" name="Picture 6" descr="https://blog.kakaocdn.net/dn/bdiKmB/btqCAOQdrKV/J4ZwNpPXMxTzHC5aUZ1ph0/img.png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357" y="4467589"/>
            <a:ext cx="3618767" cy="2086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3DA4735F-59E9-4004-8A82-7DA5D2004F5F}"/>
              </a:ext>
            </a:extLst>
          </p:cNvPr>
          <p:cNvSpPr txBox="1"/>
          <p:nvPr/>
        </p:nvSpPr>
        <p:spPr>
          <a:xfrm>
            <a:off x="416357" y="4159231"/>
            <a:ext cx="3937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2. Lombok </a:t>
            </a:r>
            <a:r>
              <a:rPr lang="ko-KR" altLang="en-US" sz="1100" b="1" dirty="0" smtClean="0">
                <a:latin typeface="+mn-ea"/>
              </a:rPr>
              <a:t>실행 후 </a:t>
            </a:r>
            <a:r>
              <a:rPr lang="en-US" altLang="ko-KR" sz="1100" b="1" dirty="0" err="1" smtClean="0">
                <a:latin typeface="+mn-ea"/>
              </a:rPr>
              <a:t>sts</a:t>
            </a:r>
            <a:r>
              <a:rPr lang="ko-KR" altLang="en-US" sz="1100" b="1" dirty="0" smtClean="0">
                <a:latin typeface="+mn-ea"/>
              </a:rPr>
              <a:t>위치 설정</a:t>
            </a:r>
            <a:endParaRPr lang="en-US" altLang="ko-KR" sz="1100" b="1" dirty="0">
              <a:latin typeface="+mn-ea"/>
            </a:endParaRPr>
          </a:p>
        </p:txBody>
      </p:sp>
      <p:pic>
        <p:nvPicPr>
          <p:cNvPr id="20" name="Picture 8" descr="https://blog.kakaocdn.net/dn/bbzh9f/btqCDlmcaRE/PwiLqa2wxvB4jmDBQ9jqI1/img.png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222" y="4451029"/>
            <a:ext cx="3631676" cy="2086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0" descr="https://blog.kakaocdn.net/dn/mc5jG/btqCB7IwcKd/evi2FXg4Y1j6sJJMRLZ75K/img.png"/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947" y="4464624"/>
            <a:ext cx="3587750" cy="2092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4984749" y="3376358"/>
            <a:ext cx="4801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[ </a:t>
            </a:r>
            <a:r>
              <a:rPr lang="ko-KR" altLang="en-US" sz="1200" dirty="0" err="1"/>
              <a:t>에러시</a:t>
            </a:r>
            <a:r>
              <a:rPr lang="ko-KR" altLang="en-US" sz="1200" dirty="0"/>
              <a:t> 추가 </a:t>
            </a:r>
            <a:r>
              <a:rPr lang="en-US" altLang="ko-KR" sz="1200" dirty="0"/>
              <a:t>]</a:t>
            </a:r>
          </a:p>
          <a:p>
            <a:r>
              <a:rPr lang="en-US" altLang="ko-KR" sz="1200" dirty="0"/>
              <a:t>--illegal-access=warn</a:t>
            </a:r>
          </a:p>
          <a:p>
            <a:r>
              <a:rPr lang="en-US" altLang="ko-KR" sz="1200" dirty="0"/>
              <a:t>--add-opens </a:t>
            </a:r>
            <a:r>
              <a:rPr lang="en-US" altLang="ko-KR" sz="1200" dirty="0" err="1"/>
              <a:t>java.base</a:t>
            </a:r>
            <a:r>
              <a:rPr lang="en-US" altLang="ko-KR" sz="1200" dirty="0"/>
              <a:t>/</a:t>
            </a:r>
            <a:r>
              <a:rPr lang="en-US" altLang="ko-KR" sz="1200" dirty="0" err="1"/>
              <a:t>java.lang</a:t>
            </a:r>
            <a:r>
              <a:rPr lang="en-US" altLang="ko-KR" sz="1200" dirty="0"/>
              <a:t>=ALL-UNNAMED</a:t>
            </a:r>
            <a:endParaRPr lang="ko-KR" alt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3DA4735F-59E9-4004-8A82-7DA5D2004F5F}"/>
              </a:ext>
            </a:extLst>
          </p:cNvPr>
          <p:cNvSpPr txBox="1"/>
          <p:nvPr/>
        </p:nvSpPr>
        <p:spPr>
          <a:xfrm>
            <a:off x="416357" y="1671627"/>
            <a:ext cx="3937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+mn-ea"/>
              </a:rPr>
              <a:t>1</a:t>
            </a:r>
            <a:r>
              <a:rPr lang="en-US" altLang="ko-KR" sz="1100" b="1" dirty="0" smtClean="0">
                <a:latin typeface="+mn-ea"/>
              </a:rPr>
              <a:t>. </a:t>
            </a:r>
            <a:r>
              <a:rPr lang="ko-KR" altLang="en-US" sz="1100" b="1" dirty="0" smtClean="0">
                <a:latin typeface="+mn-ea"/>
              </a:rPr>
              <a:t>파일다운로드</a:t>
            </a:r>
            <a:endParaRPr lang="en-US" altLang="ko-KR" sz="11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99112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3670C57E-00EC-44C3-9EB4-0A3542D0FD3C}"/>
              </a:ext>
            </a:extLst>
          </p:cNvPr>
          <p:cNvSpPr/>
          <p:nvPr/>
        </p:nvSpPr>
        <p:spPr>
          <a:xfrm>
            <a:off x="416357" y="1070214"/>
            <a:ext cx="5273455" cy="4949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spc="-1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Mapper.xml </a:t>
            </a:r>
            <a:r>
              <a:rPr lang="ko-KR" altLang="en-US" sz="2000" spc="-1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구문 </a:t>
            </a:r>
            <a:r>
              <a:rPr lang="ko-KR" altLang="en-US" sz="2000" spc="-15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에러시</a:t>
            </a:r>
            <a:r>
              <a:rPr lang="ko-KR" altLang="en-US" sz="2000" spc="-1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해결</a:t>
            </a:r>
            <a:endParaRPr lang="ko-KR" altLang="en-US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xmlns="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xmlns="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mapper.xml </a:t>
            </a:r>
            <a:r>
              <a:rPr lang="ko-KR" altLang="en-US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구문에러 해결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smtClean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4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xmlns="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A39267D6-3F4A-4736-BC35-3AC055C5CCEC}"/>
              </a:ext>
            </a:extLst>
          </p:cNvPr>
          <p:cNvSpPr txBox="1"/>
          <p:nvPr/>
        </p:nvSpPr>
        <p:spPr>
          <a:xfrm>
            <a:off x="423258" y="1768540"/>
            <a:ext cx="5266554" cy="21236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/>
              <a:t>&lt;?xml version=</a:t>
            </a:r>
            <a:r>
              <a:rPr lang="en-US" altLang="ko-KR" sz="1200" i="1" dirty="0"/>
              <a:t>"1.0"</a:t>
            </a:r>
            <a:r>
              <a:rPr lang="en-US" altLang="ko-KR" sz="1200" dirty="0"/>
              <a:t> encoding=</a:t>
            </a:r>
            <a:r>
              <a:rPr lang="en-US" altLang="ko-KR" sz="1200" i="1" dirty="0"/>
              <a:t>"UTF-8"</a:t>
            </a:r>
            <a:r>
              <a:rPr lang="en-US" altLang="ko-KR" sz="1200" dirty="0"/>
              <a:t> ?&gt;</a:t>
            </a:r>
          </a:p>
          <a:p>
            <a:r>
              <a:rPr lang="en-US" altLang="ko-KR" sz="1200" dirty="0"/>
              <a:t>&lt;!DOCTYPE mapper</a:t>
            </a:r>
          </a:p>
          <a:p>
            <a:r>
              <a:rPr lang="en-US" altLang="ko-KR" sz="1200" dirty="0"/>
              <a:t>PUBLIC "-//mybatis.org//DTD Mapper 3.0//EN"</a:t>
            </a:r>
          </a:p>
          <a:p>
            <a:r>
              <a:rPr lang="en-US" altLang="ko-KR" sz="1200" dirty="0"/>
              <a:t>"https://mybatis.org/</a:t>
            </a:r>
            <a:r>
              <a:rPr lang="en-US" altLang="ko-KR" sz="1200" dirty="0" err="1"/>
              <a:t>dtd</a:t>
            </a:r>
            <a:r>
              <a:rPr lang="en-US" altLang="ko-KR" sz="1200" dirty="0"/>
              <a:t>/mybatis-3-mapper.dtd"&gt;</a:t>
            </a:r>
          </a:p>
          <a:p>
            <a:r>
              <a:rPr lang="en-US" altLang="ko-KR" sz="1200" dirty="0"/>
              <a:t>&lt;mapper namespace=</a:t>
            </a:r>
            <a:r>
              <a:rPr lang="en-US" altLang="ko-KR" sz="1200" i="1" dirty="0"/>
              <a:t>"</a:t>
            </a:r>
            <a:r>
              <a:rPr lang="en-US" altLang="ko-KR" sz="1200" i="1" dirty="0" err="1"/>
              <a:t>com.java.dao.BoardDao</a:t>
            </a:r>
            <a:r>
              <a:rPr lang="en-US" altLang="ko-KR" sz="1200" i="1" dirty="0"/>
              <a:t>"</a:t>
            </a:r>
            <a:r>
              <a:rPr lang="en-US" altLang="ko-KR" sz="1200" dirty="0"/>
              <a:t>&gt;</a:t>
            </a:r>
          </a:p>
          <a:p>
            <a:pPr lvl="1"/>
            <a:r>
              <a:rPr lang="en-US" altLang="ko-KR" sz="1200" dirty="0"/>
              <a:t>&lt;!-- </a:t>
            </a:r>
            <a:r>
              <a:rPr lang="ko-KR" altLang="en-US" sz="1200" dirty="0"/>
              <a:t>게시판 리스트 </a:t>
            </a:r>
            <a:r>
              <a:rPr lang="en-US" altLang="ko-KR" sz="1200" dirty="0"/>
              <a:t>--&gt;</a:t>
            </a:r>
            <a:endParaRPr lang="ko-KR" altLang="en-US" sz="1200" dirty="0"/>
          </a:p>
          <a:p>
            <a:pPr lvl="1"/>
            <a:r>
              <a:rPr lang="en-US" altLang="ko-KR" sz="1200" dirty="0"/>
              <a:t>&lt;select id=</a:t>
            </a:r>
            <a:r>
              <a:rPr lang="en-US" altLang="ko-KR" sz="1200" i="1" dirty="0"/>
              <a:t>"</a:t>
            </a:r>
            <a:r>
              <a:rPr lang="en-US" altLang="ko-KR" sz="1200" i="1" dirty="0" err="1"/>
              <a:t>selectList</a:t>
            </a:r>
            <a:r>
              <a:rPr lang="en-US" altLang="ko-KR" sz="1200" i="1" dirty="0"/>
              <a:t>"</a:t>
            </a:r>
            <a:r>
              <a:rPr lang="en-US" altLang="ko-KR" sz="1200" dirty="0"/>
              <a:t> </a:t>
            </a:r>
            <a:r>
              <a:rPr lang="en-US" altLang="ko-KR" sz="1200" dirty="0" err="1"/>
              <a:t>resultType</a:t>
            </a:r>
            <a:r>
              <a:rPr lang="en-US" altLang="ko-KR" sz="1200" dirty="0"/>
              <a:t>=</a:t>
            </a:r>
            <a:r>
              <a:rPr lang="en-US" altLang="ko-KR" sz="1200" i="1" dirty="0"/>
              <a:t>"</a:t>
            </a:r>
            <a:r>
              <a:rPr lang="en-US" altLang="ko-KR" sz="1200" i="1" dirty="0" err="1"/>
              <a:t>com.java.dto.BoardDto</a:t>
            </a:r>
            <a:r>
              <a:rPr lang="en-US" altLang="ko-KR" sz="1200" i="1" dirty="0"/>
              <a:t>"</a:t>
            </a:r>
            <a:r>
              <a:rPr lang="en-US" altLang="ko-KR" sz="1200" dirty="0"/>
              <a:t>&gt;</a:t>
            </a:r>
          </a:p>
          <a:p>
            <a:pPr lvl="1"/>
            <a:r>
              <a:rPr lang="en-US" altLang="ko-KR" sz="1200" dirty="0" smtClean="0"/>
              <a:t>	select </a:t>
            </a:r>
            <a:r>
              <a:rPr lang="en-US" altLang="ko-KR" sz="1200" dirty="0"/>
              <a:t>* from board order by </a:t>
            </a:r>
            <a:r>
              <a:rPr lang="en-US" altLang="ko-KR" sz="1200" u="sng" dirty="0" err="1"/>
              <a:t>bgroup</a:t>
            </a:r>
            <a:r>
              <a:rPr lang="en-US" altLang="ko-KR" sz="1200" dirty="0"/>
              <a:t> </a:t>
            </a:r>
            <a:r>
              <a:rPr lang="en-US" altLang="ko-KR" sz="1200" u="sng" dirty="0" err="1"/>
              <a:t>desc</a:t>
            </a:r>
            <a:r>
              <a:rPr lang="en-US" altLang="ko-KR" sz="1200" dirty="0"/>
              <a:t>, </a:t>
            </a:r>
            <a:r>
              <a:rPr lang="en-US" altLang="ko-KR" sz="1200" u="sng" dirty="0" err="1"/>
              <a:t>bstep</a:t>
            </a:r>
            <a:r>
              <a:rPr lang="en-US" altLang="ko-KR" sz="1200" dirty="0"/>
              <a:t> </a:t>
            </a:r>
            <a:r>
              <a:rPr lang="en-US" altLang="ko-KR" sz="1200" u="sng" dirty="0" err="1"/>
              <a:t>asc</a:t>
            </a:r>
            <a:endParaRPr lang="en-US" altLang="ko-KR" sz="1200" dirty="0"/>
          </a:p>
          <a:p>
            <a:pPr lvl="1"/>
            <a:r>
              <a:rPr lang="en-US" altLang="ko-KR" sz="1200" dirty="0"/>
              <a:t>&lt;/select</a:t>
            </a:r>
            <a:r>
              <a:rPr lang="en-US" altLang="ko-KR" sz="1200" dirty="0" smtClean="0"/>
              <a:t>&gt;</a:t>
            </a:r>
          </a:p>
          <a:p>
            <a:endParaRPr lang="en-US" altLang="ko-KR" sz="1200" dirty="0"/>
          </a:p>
          <a:p>
            <a:r>
              <a:rPr lang="en-US" altLang="ko-KR" sz="1200" dirty="0" smtClean="0"/>
              <a:t>&lt;/mapper&gt;</a:t>
            </a:r>
            <a:endParaRPr lang="en-US" altLang="ko-KR" sz="1200" dirty="0"/>
          </a:p>
        </p:txBody>
      </p:sp>
      <p:sp>
        <p:nvSpPr>
          <p:cNvPr id="26" name="직사각형 25"/>
          <p:cNvSpPr/>
          <p:nvPr/>
        </p:nvSpPr>
        <p:spPr>
          <a:xfrm>
            <a:off x="423258" y="4293973"/>
            <a:ext cx="5266554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ko-KR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구문 에러표시 해결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23258" y="4754380"/>
            <a:ext cx="5266554" cy="73866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이클립스</a:t>
            </a:r>
            <a:r>
              <a:rPr lang="ko-KR" altLang="en-US" sz="1400" dirty="0"/>
              <a:t> 들어가서 상단에 </a:t>
            </a:r>
            <a:r>
              <a:rPr lang="en-US" altLang="ko-KR" sz="1400" dirty="0"/>
              <a:t>Window -&gt; 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en-US" altLang="ko-KR" sz="1400" dirty="0" smtClean="0"/>
              <a:t>Preferences </a:t>
            </a:r>
            <a:r>
              <a:rPr lang="en-US" altLang="ko-KR" sz="1400" dirty="0"/>
              <a:t>-&gt; XML (Wild Web Developer) -&gt; 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en-US" altLang="ko-KR" sz="1400" dirty="0" smtClean="0"/>
              <a:t>Download </a:t>
            </a:r>
            <a:r>
              <a:rPr lang="en-US" altLang="ko-KR" sz="1400" dirty="0"/>
              <a:t>external resources like referenced DTD, XSD </a:t>
            </a:r>
            <a:r>
              <a:rPr lang="ko-KR" altLang="en-US" sz="1400" dirty="0"/>
              <a:t>체크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29" name="Picture 2" descr="https://img1.daumcdn.net/thumb/R1280x0/?scode=mtistory2&amp;fname=https%3A%2F%2Fblog.kakaocdn.net%2Fdn%2Fdla3kf%2FbtsyuHtP0jX%2F2gQe1Frb9cLgmRJxv836g0%2Fimg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5285" y="3290318"/>
            <a:ext cx="4089271" cy="3174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4" descr="https://img1.daumcdn.net/thumb/R1280x0/?scode=mtistory2&amp;fname=https%3A%2F%2Fblog.kakaocdn.net%2Fdn%2Fl5q3Y%2FbtsytJ6AFIm%2FkCAI2oOkm3tY9ubIxixbQK%2Fim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2122" y="4521051"/>
            <a:ext cx="1479494" cy="1943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7354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3670C57E-00EC-44C3-9EB4-0A3542D0FD3C}"/>
              </a:ext>
            </a:extLst>
          </p:cNvPr>
          <p:cNvSpPr/>
          <p:nvPr/>
        </p:nvSpPr>
        <p:spPr>
          <a:xfrm>
            <a:off x="416357" y="1070214"/>
            <a:ext cx="7036063" cy="4949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Spring boot  &gt; </a:t>
            </a:r>
            <a:r>
              <a:rPr lang="en-US" altLang="ko-KR" sz="2000" spc="-15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src</a:t>
            </a:r>
            <a:r>
              <a:rPr lang="en-US" altLang="ko-KR" sz="2000" spc="-1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/main/resource/static </a:t>
            </a:r>
            <a:r>
              <a:rPr lang="ko-KR" altLang="en-US" sz="2000" spc="-1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폴더에 설정</a:t>
            </a:r>
            <a:endParaRPr lang="en-US" altLang="ko-KR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xmlns="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xmlns="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resources </a:t>
            </a:r>
            <a:r>
              <a:rPr lang="ko-KR" altLang="en-US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설정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smtClean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5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xmlns="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6DD293A6-4BEF-49EB-9E78-6D2956484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08" y="2425622"/>
            <a:ext cx="2405643" cy="368443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7F971218-A1E6-4149-9CCC-89AB2141DA29}"/>
              </a:ext>
            </a:extLst>
          </p:cNvPr>
          <p:cNvSpPr/>
          <p:nvPr/>
        </p:nvSpPr>
        <p:spPr>
          <a:xfrm>
            <a:off x="677008" y="1795046"/>
            <a:ext cx="3190317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[ images, </a:t>
            </a:r>
            <a:r>
              <a:rPr lang="en-US" altLang="ko-KR" sz="1400" dirty="0" err="1"/>
              <a:t>css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js</a:t>
            </a:r>
            <a:r>
              <a:rPr lang="ko-KR" altLang="en-US" sz="1400" dirty="0"/>
              <a:t> 폴더 연결 </a:t>
            </a:r>
            <a:r>
              <a:rPr lang="en-US" altLang="ko-KR" sz="1400" dirty="0"/>
              <a:t>]</a:t>
            </a:r>
          </a:p>
          <a:p>
            <a:r>
              <a:rPr lang="en-US" altLang="ko-KR" sz="1400" dirty="0" smtClean="0"/>
              <a:t>- Static </a:t>
            </a:r>
            <a:r>
              <a:rPr lang="ko-KR" altLang="en-US" sz="1400" dirty="0"/>
              <a:t>아래 폴더 생성</a:t>
            </a:r>
            <a:endParaRPr lang="en-US" altLang="ko-KR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E8B5A80C-11D7-4B6D-8FB9-279C243B3E19}"/>
              </a:ext>
            </a:extLst>
          </p:cNvPr>
          <p:cNvSpPr/>
          <p:nvPr/>
        </p:nvSpPr>
        <p:spPr>
          <a:xfrm>
            <a:off x="1018069" y="3590981"/>
            <a:ext cx="1989082" cy="183592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xmlns="" id="{A9A07122-EB75-4911-A218-2226CEE70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103" y="2443377"/>
            <a:ext cx="3012119" cy="237593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E78936B2-834D-444E-BB27-A12D639DFF50}"/>
              </a:ext>
            </a:extLst>
          </p:cNvPr>
          <p:cNvSpPr/>
          <p:nvPr/>
        </p:nvSpPr>
        <p:spPr>
          <a:xfrm>
            <a:off x="4446118" y="4062393"/>
            <a:ext cx="2584701" cy="25290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D8AC4452-9589-483D-A32A-C0A48912B7F5}"/>
              </a:ext>
            </a:extLst>
          </p:cNvPr>
          <p:cNvSpPr/>
          <p:nvPr/>
        </p:nvSpPr>
        <p:spPr>
          <a:xfrm>
            <a:off x="4262103" y="1795046"/>
            <a:ext cx="3190317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[ html</a:t>
            </a:r>
            <a:r>
              <a:rPr lang="ko-KR" altLang="en-US" sz="1400" dirty="0"/>
              <a:t> 연결 </a:t>
            </a:r>
            <a:r>
              <a:rPr lang="en-US" altLang="ko-KR" sz="1400" dirty="0"/>
              <a:t>]</a:t>
            </a:r>
          </a:p>
          <a:p>
            <a:r>
              <a:rPr lang="en-US" altLang="ko-KR" sz="1400" dirty="0" smtClean="0"/>
              <a:t>- Static </a:t>
            </a:r>
            <a:r>
              <a:rPr lang="ko-KR" altLang="en-US" sz="1400" dirty="0"/>
              <a:t>아래 </a:t>
            </a:r>
            <a:r>
              <a:rPr lang="en-US" altLang="ko-KR" sz="1400" dirty="0"/>
              <a:t>html </a:t>
            </a:r>
            <a:r>
              <a:rPr lang="ko-KR" altLang="en-US" sz="1400" dirty="0"/>
              <a:t>넣음</a:t>
            </a:r>
            <a:endParaRPr lang="en-US" altLang="ko-KR" sz="14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CE2E714D-5267-4F6B-AB8C-DD28C7D13536}"/>
              </a:ext>
            </a:extLst>
          </p:cNvPr>
          <p:cNvSpPr/>
          <p:nvPr/>
        </p:nvSpPr>
        <p:spPr>
          <a:xfrm>
            <a:off x="7847198" y="1795046"/>
            <a:ext cx="3939263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[ </a:t>
            </a:r>
            <a:r>
              <a:rPr lang="en-US" altLang="ko-KR" sz="1400" dirty="0" err="1"/>
              <a:t>jsp</a:t>
            </a:r>
            <a:r>
              <a:rPr lang="ko-KR" altLang="en-US" sz="1400" dirty="0"/>
              <a:t> 연결 </a:t>
            </a:r>
            <a:r>
              <a:rPr lang="en-US" altLang="ko-KR" sz="1400" dirty="0"/>
              <a:t>]</a:t>
            </a:r>
          </a:p>
          <a:p>
            <a:r>
              <a:rPr lang="en-US" altLang="ko-KR" sz="1400" dirty="0"/>
              <a:t>webapp &gt; WEB-INF &gt; </a:t>
            </a:r>
            <a:r>
              <a:rPr lang="en-US" altLang="ko-KR" sz="1400" dirty="0" smtClean="0"/>
              <a:t>views &gt; </a:t>
            </a:r>
            <a:r>
              <a:rPr lang="en-US" altLang="ko-KR" sz="1400" dirty="0" err="1" smtClean="0"/>
              <a:t>Jsp</a:t>
            </a:r>
            <a:r>
              <a:rPr lang="ko-KR" altLang="en-US" sz="1400" dirty="0" smtClean="0"/>
              <a:t> </a:t>
            </a:r>
            <a:r>
              <a:rPr lang="ko-KR" altLang="en-US" sz="1400" dirty="0"/>
              <a:t>파일 생성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xmlns="" id="{54F61F1E-10BC-4EFC-B542-3B113EDE0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7198" y="2422361"/>
            <a:ext cx="2400300" cy="37623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9A4F64A1-142D-4A38-A01B-7BE7117BD021}"/>
              </a:ext>
            </a:extLst>
          </p:cNvPr>
          <p:cNvSpPr/>
          <p:nvPr/>
        </p:nvSpPr>
        <p:spPr>
          <a:xfrm>
            <a:off x="7847199" y="4629050"/>
            <a:ext cx="2400300" cy="158918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연결선 2"/>
          <p:cNvCxnSpPr/>
          <p:nvPr/>
        </p:nvCxnSpPr>
        <p:spPr>
          <a:xfrm>
            <a:off x="7644714" y="1795852"/>
            <a:ext cx="0" cy="491798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3670C57E-00EC-44C3-9EB4-0A3542D0FD3C}"/>
              </a:ext>
            </a:extLst>
          </p:cNvPr>
          <p:cNvSpPr/>
          <p:nvPr/>
        </p:nvSpPr>
        <p:spPr>
          <a:xfrm>
            <a:off x="7847200" y="1070214"/>
            <a:ext cx="3939262" cy="4949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spc="-15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Jsp</a:t>
            </a:r>
            <a:r>
              <a:rPr lang="en-US" altLang="ko-KR" sz="2000" spc="-1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2000" spc="-1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파일 설정</a:t>
            </a:r>
            <a:endParaRPr lang="en-US" altLang="ko-KR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977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3670C57E-00EC-44C3-9EB4-0A3542D0FD3C}"/>
              </a:ext>
            </a:extLst>
          </p:cNvPr>
          <p:cNvSpPr/>
          <p:nvPr/>
        </p:nvSpPr>
        <p:spPr>
          <a:xfrm>
            <a:off x="416357" y="1202972"/>
            <a:ext cx="3504854" cy="7244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images </a:t>
            </a: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외부 드라이브 변경 </a:t>
            </a:r>
            <a:endParaRPr lang="en-US" altLang="ko-KR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xmlns="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xmlns="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resources </a:t>
            </a:r>
            <a:r>
              <a:rPr lang="ko-KR" altLang="en-US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설정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smtClean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5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xmlns="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="" xmlns:a16="http://schemas.microsoft.com/office/drawing/2014/main" id="{A9A07122-EB75-4911-A218-2226CEE70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04" y="2220075"/>
            <a:ext cx="3012119" cy="237593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5" name="직사각형 24">
            <a:extLst>
              <a:ext uri="{FF2B5EF4-FFF2-40B4-BE49-F238E27FC236}">
                <a16:creationId xmlns="" xmlns:a16="http://schemas.microsoft.com/office/drawing/2014/main" id="{E78936B2-834D-444E-BB27-A12D639DFF50}"/>
              </a:ext>
            </a:extLst>
          </p:cNvPr>
          <p:cNvSpPr/>
          <p:nvPr/>
        </p:nvSpPr>
        <p:spPr>
          <a:xfrm>
            <a:off x="627319" y="3393818"/>
            <a:ext cx="2584701" cy="47707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163" y="2224567"/>
            <a:ext cx="1781175" cy="176212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8" name="직사각형 27"/>
          <p:cNvSpPr/>
          <p:nvPr/>
        </p:nvSpPr>
        <p:spPr>
          <a:xfrm>
            <a:off x="6528369" y="2349869"/>
            <a:ext cx="5136409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ko-KR" altLang="en-US" sz="1200" dirty="0">
                <a:solidFill>
                  <a:srgbClr val="3F7F5F"/>
                </a:solidFill>
                <a:latin typeface="Consolas" panose="020B0609020204030204" pitchFamily="49" charset="0"/>
              </a:rPr>
              <a:t>파일 외부 연결</a:t>
            </a:r>
          </a:p>
          <a:p>
            <a:r>
              <a:rPr lang="en-US" altLang="ko-KR" sz="1200" dirty="0">
                <a:solidFill>
                  <a:srgbClr val="646464"/>
                </a:solidFill>
                <a:latin typeface="Consolas" panose="020B0609020204030204" pitchFamily="49" charset="0"/>
              </a:rPr>
              <a:t>@Configuration</a:t>
            </a:r>
          </a:p>
          <a:p>
            <a:r>
              <a:rPr lang="en-US" altLang="ko-KR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ko-KR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ko-KR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Video_config</a:t>
            </a:r>
            <a:r>
              <a:rPr lang="en-US" altLang="ko-KR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implements</a:t>
            </a:r>
            <a:r>
              <a:rPr lang="en-US" altLang="ko-KR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WebMvcConfigurer</a:t>
            </a:r>
            <a:r>
              <a:rPr lang="en-US" altLang="ko-KR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endParaRPr lang="ko-KR" altLang="en-US" sz="1200" dirty="0">
              <a:latin typeface="Consolas" panose="020B0609020204030204" pitchFamily="49" charset="0"/>
            </a:endParaRPr>
          </a:p>
          <a:p>
            <a:r>
              <a:rPr lang="en-US" altLang="ko-KR" sz="1200" dirty="0">
                <a:solidFill>
                  <a:srgbClr val="646464"/>
                </a:solidFill>
                <a:latin typeface="Consolas" panose="020B0609020204030204" pitchFamily="49" charset="0"/>
              </a:rPr>
              <a:t>@Override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ko-KR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ko-KR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addResourceHandlers</a:t>
            </a:r>
            <a:r>
              <a:rPr lang="en-US" altLang="ko-KR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ResourceHandlerRegistry</a:t>
            </a:r>
            <a:r>
              <a:rPr lang="en-US" altLang="ko-KR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registry</a:t>
            </a:r>
            <a:r>
              <a:rPr lang="en-US" altLang="ko-KR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registry</a:t>
            </a:r>
            <a:r>
              <a:rPr lang="en-US" altLang="ko-K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.addResourceHandler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>
                <a:solidFill>
                  <a:srgbClr val="2A00FF"/>
                </a:solidFill>
                <a:latin typeface="Consolas" panose="020B0609020204030204" pitchFamily="49" charset="0"/>
              </a:rPr>
              <a:t>"/images/**"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.</a:t>
            </a:r>
            <a:r>
              <a:rPr lang="en-US" altLang="ko-K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addResourceLocations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>
                <a:solidFill>
                  <a:srgbClr val="2A00FF"/>
                </a:solidFill>
                <a:latin typeface="Consolas" panose="020B0609020204030204" pitchFamily="49" charset="0"/>
              </a:rPr>
              <a:t>"file:///d:/upload/"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ko-KR" altLang="en-US" sz="1200" dirty="0">
              <a:latin typeface="Consolas" panose="020B0609020204030204" pitchFamily="49" charset="0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ko-KR" altLang="en-US" sz="1200" dirty="0"/>
          </a:p>
        </p:txBody>
      </p:sp>
      <p:sp>
        <p:nvSpPr>
          <p:cNvPr id="29" name="직사각형 28">
            <a:extLst>
              <a:ext uri="{FF2B5EF4-FFF2-40B4-BE49-F238E27FC236}">
                <a16:creationId xmlns="" xmlns:a16="http://schemas.microsoft.com/office/drawing/2014/main" id="{D8AC4452-9589-483D-A32A-C0A48912B7F5}"/>
              </a:ext>
            </a:extLst>
          </p:cNvPr>
          <p:cNvSpPr/>
          <p:nvPr/>
        </p:nvSpPr>
        <p:spPr>
          <a:xfrm>
            <a:off x="4168163" y="1202972"/>
            <a:ext cx="6429943" cy="724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/>
          <a:p>
            <a:pPr algn="ctr"/>
            <a:r>
              <a:rPr lang="en-US" altLang="ko-KR" sz="2000" dirty="0"/>
              <a:t>[ class</a:t>
            </a:r>
            <a:r>
              <a:rPr lang="ko-KR" altLang="en-US" sz="2000" dirty="0" err="1"/>
              <a:t>생성후</a:t>
            </a:r>
            <a:r>
              <a:rPr lang="ko-KR" altLang="en-US" sz="2000" dirty="0"/>
              <a:t> </a:t>
            </a:r>
            <a:r>
              <a:rPr lang="en-US" altLang="ko-KR" sz="2000" dirty="0"/>
              <a:t>-&gt; </a:t>
            </a:r>
            <a:r>
              <a:rPr lang="ko-KR" altLang="en-US" sz="2000" dirty="0"/>
              <a:t>코드 추가 </a:t>
            </a:r>
            <a:r>
              <a:rPr lang="en-US" altLang="ko-KR" sz="2000" dirty="0"/>
              <a:t>]</a:t>
            </a:r>
          </a:p>
          <a:p>
            <a:pPr algn="ctr"/>
            <a:r>
              <a:rPr lang="en-US" altLang="ko-KR" sz="2000" dirty="0"/>
              <a:t>- Interface </a:t>
            </a:r>
            <a:r>
              <a:rPr lang="ko-KR" altLang="en-US" sz="2000" dirty="0"/>
              <a:t>상속해서 </a:t>
            </a:r>
            <a:r>
              <a:rPr lang="ko-KR" altLang="en-US" sz="2000" dirty="0" smtClean="0"/>
              <a:t>구현 </a:t>
            </a:r>
            <a:r>
              <a:rPr lang="en-US" altLang="ko-KR" sz="2000" dirty="0"/>
              <a:t>: </a:t>
            </a:r>
            <a:r>
              <a:rPr lang="en-US" altLang="ko-KR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WebMvcConfigurer</a:t>
            </a:r>
            <a:endParaRPr lang="en-US" altLang="ko-KR" sz="2000" dirty="0"/>
          </a:p>
        </p:txBody>
      </p:sp>
      <p:sp>
        <p:nvSpPr>
          <p:cNvPr id="30" name="직사각형 29">
            <a:extLst>
              <a:ext uri="{FF2B5EF4-FFF2-40B4-BE49-F238E27FC236}">
                <a16:creationId xmlns="" xmlns:a16="http://schemas.microsoft.com/office/drawing/2014/main" id="{E78936B2-834D-444E-BB27-A12D639DFF50}"/>
              </a:ext>
            </a:extLst>
          </p:cNvPr>
          <p:cNvSpPr/>
          <p:nvPr/>
        </p:nvSpPr>
        <p:spPr>
          <a:xfrm>
            <a:off x="4273379" y="2938501"/>
            <a:ext cx="1689382" cy="19690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="" xmlns:a16="http://schemas.microsoft.com/office/drawing/2014/main" id="{E78936B2-834D-444E-BB27-A12D639DFF50}"/>
              </a:ext>
            </a:extLst>
          </p:cNvPr>
          <p:cNvSpPr/>
          <p:nvPr/>
        </p:nvSpPr>
        <p:spPr>
          <a:xfrm>
            <a:off x="8777299" y="2695129"/>
            <a:ext cx="2360258" cy="33935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오른쪽 중괄호 31"/>
          <p:cNvSpPr/>
          <p:nvPr/>
        </p:nvSpPr>
        <p:spPr>
          <a:xfrm flipH="1">
            <a:off x="6170151" y="2209789"/>
            <a:ext cx="313359" cy="2588484"/>
          </a:xfrm>
          <a:prstGeom prst="rightBrace">
            <a:avLst>
              <a:gd name="adj1" fmla="val 8333"/>
              <a:gd name="adj2" fmla="val 31423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Rectangle 1">
            <a:extLst>
              <a:ext uri="{FF2B5EF4-FFF2-40B4-BE49-F238E27FC236}">
                <a16:creationId xmlns="" xmlns:a16="http://schemas.microsoft.com/office/drawing/2014/main" id="{0D03C6D3-9933-40C7-8846-AFC4DEBF9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8368" y="5052581"/>
            <a:ext cx="5136409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600" dirty="0" err="1"/>
              <a:t>c</a:t>
            </a:r>
            <a:r>
              <a:rPr lang="en-US" altLang="ko-KR" sz="1600" dirty="0" err="1" smtClean="0"/>
              <a:t>onfig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패키지 </a:t>
            </a:r>
            <a:r>
              <a:rPr lang="en-US" altLang="ko-KR" sz="1600" dirty="0"/>
              <a:t>&gt; </a:t>
            </a:r>
            <a:r>
              <a:rPr lang="en-US" altLang="ko-KR" sz="1600" dirty="0" smtClean="0"/>
              <a:t>images_config.java </a:t>
            </a:r>
            <a:r>
              <a:rPr lang="ko-KR" altLang="en-US" sz="1600" dirty="0"/>
              <a:t>생성</a:t>
            </a:r>
            <a:endParaRPr lang="en-US" altLang="ko-KR" sz="1600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600" dirty="0" smtClean="0"/>
              <a:t>Images </a:t>
            </a:r>
            <a:r>
              <a:rPr lang="en-US" altLang="ko-KR" sz="1600" dirty="0" err="1" smtClean="0"/>
              <a:t>url</a:t>
            </a:r>
            <a:r>
              <a:rPr lang="ko-KR" altLang="en-US" sz="1600" dirty="0" smtClean="0"/>
              <a:t>로 들어오는 링크를</a:t>
            </a:r>
            <a:r>
              <a:rPr lang="en-US" altLang="ko-KR" sz="1600" dirty="0" smtClean="0"/>
              <a:t> d:&gt;</a:t>
            </a:r>
            <a:r>
              <a:rPr lang="ko-KR" altLang="en-US" sz="1600" dirty="0" smtClean="0"/>
              <a:t>드라이브로 </a:t>
            </a:r>
            <a:r>
              <a:rPr lang="ko-KR" altLang="en-US" sz="1600" dirty="0"/>
              <a:t>연결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567918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3670C57E-00EC-44C3-9EB4-0A3542D0FD3C}"/>
              </a:ext>
            </a:extLst>
          </p:cNvPr>
          <p:cNvSpPr/>
          <p:nvPr/>
        </p:nvSpPr>
        <p:spPr>
          <a:xfrm>
            <a:off x="416357" y="1202972"/>
            <a:ext cx="3504854" cy="7244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spc="-1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File &gt; New</a:t>
            </a:r>
            <a:endParaRPr lang="en-US" altLang="ko-KR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xmlns="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xmlns="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신규 파일생성 화면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6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xmlns="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xmlns="" id="{9195C36E-2A68-4EAA-AD21-559299656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217" y="1202972"/>
            <a:ext cx="4657392" cy="4493335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2622BFA1-9CB2-425F-A255-D963B5F88629}"/>
              </a:ext>
            </a:extLst>
          </p:cNvPr>
          <p:cNvSpPr/>
          <p:nvPr/>
        </p:nvSpPr>
        <p:spPr>
          <a:xfrm>
            <a:off x="4393999" y="3116242"/>
            <a:ext cx="2557029" cy="19020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xmlns="" id="{E4ECA38A-F57C-4D23-BE56-5B4842085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017" y="4030397"/>
            <a:ext cx="3114675" cy="74295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0A9E0EF1-D4D6-47D7-A04E-A46701DBEA70}"/>
              </a:ext>
            </a:extLst>
          </p:cNvPr>
          <p:cNvSpPr/>
          <p:nvPr/>
        </p:nvSpPr>
        <p:spPr>
          <a:xfrm>
            <a:off x="4393999" y="3727221"/>
            <a:ext cx="2557029" cy="19020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ED13F328-8BF7-4589-9466-FFA938F5EF9B}"/>
              </a:ext>
            </a:extLst>
          </p:cNvPr>
          <p:cNvSpPr/>
          <p:nvPr/>
        </p:nvSpPr>
        <p:spPr>
          <a:xfrm>
            <a:off x="4393999" y="4521515"/>
            <a:ext cx="2557029" cy="19020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7019754" y="3071979"/>
            <a:ext cx="239763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New &gt; </a:t>
            </a:r>
            <a:r>
              <a:rPr lang="ko-KR" altLang="en-US" sz="1200" b="1" dirty="0"/>
              <a:t>스프링 </a:t>
            </a:r>
            <a:r>
              <a:rPr lang="en-US" altLang="ko-KR" sz="1200" b="1" dirty="0"/>
              <a:t>MVC </a:t>
            </a:r>
            <a:r>
              <a:rPr lang="ko-KR" altLang="en-US" sz="1200" b="1" dirty="0"/>
              <a:t>프로젝트</a:t>
            </a:r>
            <a:endParaRPr lang="en-US" altLang="ko-KR" sz="12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0BB02B8B-7D95-4DC4-A86A-7A33AD400383}"/>
              </a:ext>
            </a:extLst>
          </p:cNvPr>
          <p:cNvSpPr txBox="1"/>
          <p:nvPr/>
        </p:nvSpPr>
        <p:spPr>
          <a:xfrm>
            <a:off x="7019754" y="3703629"/>
            <a:ext cx="239763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스프링 </a:t>
            </a:r>
            <a:r>
              <a:rPr lang="en-US" altLang="ko-KR" sz="1200" b="1" dirty="0"/>
              <a:t>boot </a:t>
            </a:r>
            <a:r>
              <a:rPr lang="ko-KR" altLang="en-US" sz="1200" b="1" dirty="0"/>
              <a:t>프로젝트</a:t>
            </a:r>
            <a:endParaRPr lang="en-US" altLang="ko-KR" sz="12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2E20F72C-BBEF-4914-B605-4E1DFFDE72F5}"/>
              </a:ext>
            </a:extLst>
          </p:cNvPr>
          <p:cNvSpPr txBox="1"/>
          <p:nvPr/>
        </p:nvSpPr>
        <p:spPr>
          <a:xfrm>
            <a:off x="7019754" y="4486329"/>
            <a:ext cx="239763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Maven </a:t>
            </a:r>
            <a:r>
              <a:rPr lang="ko-KR" altLang="en-US" sz="1200" b="1" dirty="0"/>
              <a:t>프로젝트</a:t>
            </a:r>
            <a:endParaRPr lang="en-US" alt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116791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3670C57E-00EC-44C3-9EB4-0A3542D0FD3C}"/>
              </a:ext>
            </a:extLst>
          </p:cNvPr>
          <p:cNvSpPr/>
          <p:nvPr/>
        </p:nvSpPr>
        <p:spPr>
          <a:xfrm>
            <a:off x="416357" y="1202972"/>
            <a:ext cx="3504854" cy="7244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spc="-1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컨테이너 등록 </a:t>
            </a:r>
            <a:r>
              <a:rPr lang="ko-KR" altLang="en-US" sz="2000" spc="-15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어노테이션</a:t>
            </a:r>
            <a:endParaRPr lang="en-US" altLang="ko-KR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xmlns="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xmlns="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컨테이너 등록 </a:t>
            </a:r>
            <a:r>
              <a:rPr lang="ko-KR" altLang="en-US" sz="3300" spc="-3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어노테이션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6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xmlns="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xmlns="" id="{64CCE451-1112-4915-ADA0-2833EFA34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973" y="2213659"/>
            <a:ext cx="5543550" cy="21717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4A3BEE37-9A1E-415E-8E62-BAE7EBF1F29D}"/>
              </a:ext>
            </a:extLst>
          </p:cNvPr>
          <p:cNvSpPr txBox="1"/>
          <p:nvPr/>
        </p:nvSpPr>
        <p:spPr>
          <a:xfrm>
            <a:off x="1008776" y="4853136"/>
            <a:ext cx="100982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스프링부트의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 경우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@Component, @Service, @Controller, @Repository, @Bean, @Configuration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등으로 필요한 빈들을 등록하고 필요한 곳에서 </a:t>
            </a:r>
            <a:endParaRPr lang="en-US" altLang="ko-KR" b="0" i="0" dirty="0">
              <a:solidFill>
                <a:srgbClr val="22222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@Autowired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를 통해 </a:t>
            </a:r>
            <a:r>
              <a:rPr lang="ko-KR" altLang="en-US" b="0" i="0" dirty="0" smtClean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주입 받아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사용하는 것이 일반적이다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CF87D04A-F892-40E0-B878-E9AC328F64BE}"/>
              </a:ext>
            </a:extLst>
          </p:cNvPr>
          <p:cNvSpPr/>
          <p:nvPr/>
        </p:nvSpPr>
        <p:spPr>
          <a:xfrm>
            <a:off x="6845415" y="2259531"/>
            <a:ext cx="1974297" cy="536895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@Configuration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5C9366BC-09C5-4607-A4B0-A96549B13E1C}"/>
              </a:ext>
            </a:extLst>
          </p:cNvPr>
          <p:cNvSpPr/>
          <p:nvPr/>
        </p:nvSpPr>
        <p:spPr>
          <a:xfrm>
            <a:off x="8967830" y="2259531"/>
            <a:ext cx="1974297" cy="536895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@Bean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9E1C57B9-BB99-4EEA-B3A2-B28059386EA7}"/>
              </a:ext>
            </a:extLst>
          </p:cNvPr>
          <p:cNvSpPr txBox="1"/>
          <p:nvPr/>
        </p:nvSpPr>
        <p:spPr>
          <a:xfrm>
            <a:off x="8886038" y="3329700"/>
            <a:ext cx="2707546" cy="93871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100" b="0" i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@Qualifier(name=“bbb”)</a:t>
            </a:r>
          </a:p>
          <a:p>
            <a:endParaRPr lang="en-US" altLang="ko-KR" sz="1100" dirty="0">
              <a:solidFill>
                <a:srgbClr val="222222"/>
              </a:solidFill>
              <a:latin typeface="consolas" panose="020B0609020204030204" pitchFamily="49" charset="0"/>
            </a:endParaRPr>
          </a:p>
          <a:p>
            <a:r>
              <a:rPr lang="en-US" altLang="ko-KR" sz="1100" b="0" i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@Qualifier: @Autowired</a:t>
            </a:r>
            <a:r>
              <a:rPr lang="ko-KR" altLang="en-US" sz="1100" b="0" i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에 함께 사용하며 </a:t>
            </a:r>
            <a:r>
              <a:rPr lang="en-US" altLang="ko-KR" sz="1100" b="0" i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Bean </a:t>
            </a:r>
            <a:r>
              <a:rPr lang="ko-KR" altLang="en-US" sz="1100" b="0" i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의 이름이 같은 객체를 찾음</a:t>
            </a:r>
            <a:r>
              <a:rPr lang="en-US" altLang="ko-KR" sz="1100" b="0" i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861999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1D635ED1-ED7F-42FF-BBC4-E015AAC1D1A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" y="0"/>
            <a:ext cx="12190326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0E00438A-FA4D-4AC6-AD9E-C18057FDD8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4A48078-82E0-46B0-BFB6-AC766ABB0F40}"/>
              </a:ext>
            </a:extLst>
          </p:cNvPr>
          <p:cNvSpPr txBox="1"/>
          <p:nvPr/>
        </p:nvSpPr>
        <p:spPr>
          <a:xfrm>
            <a:off x="4362480" y="3034175"/>
            <a:ext cx="34670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</a:rPr>
              <a:t>THANK</a:t>
            </a:r>
            <a:r>
              <a:rPr lang="ko-KR" altLang="en-US" sz="4400" dirty="0">
                <a:solidFill>
                  <a:schemeClr val="bg1"/>
                </a:solidFill>
              </a:rPr>
              <a:t> </a:t>
            </a:r>
            <a:r>
              <a:rPr lang="en-US" altLang="ko-KR" sz="4400" dirty="0">
                <a:solidFill>
                  <a:schemeClr val="bg1"/>
                </a:solidFill>
              </a:rPr>
              <a:t>YOU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498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"/>
</p:tagLst>
</file>

<file path=ppt/theme/theme1.xml><?xml version="1.0" encoding="utf-8"?>
<a:theme xmlns:a="http://schemas.openxmlformats.org/drawingml/2006/main" name="Office 테마">
  <a:themeElements>
    <a:clrScheme name="블루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F518E"/>
      </a:accent1>
      <a:accent2>
        <a:srgbClr val="00608A"/>
      </a:accent2>
      <a:accent3>
        <a:srgbClr val="0286AD"/>
      </a:accent3>
      <a:accent4>
        <a:srgbClr val="01B1D0"/>
      </a:accent4>
      <a:accent5>
        <a:srgbClr val="90CBDD"/>
      </a:accent5>
      <a:accent6>
        <a:srgbClr val="F2EAE3"/>
      </a:accent6>
      <a:hlink>
        <a:srgbClr val="262626"/>
      </a:hlink>
      <a:folHlink>
        <a:srgbClr val="262626"/>
      </a:folHlink>
    </a:clrScheme>
    <a:fontScheme name="Arial나눔">
      <a:majorFont>
        <a:latin typeface="Arial"/>
        <a:ea typeface="나눔스퀘어 ExtraBold"/>
        <a:cs typeface=""/>
      </a:majorFont>
      <a:minorFont>
        <a:latin typeface="Arial"/>
        <a:ea typeface="나눔스퀘어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1928</TotalTime>
  <Words>672</Words>
  <Application>Microsoft Office PowerPoint</Application>
  <PresentationFormat>사용자 지정</PresentationFormat>
  <Paragraphs>190</Paragraphs>
  <Slides>15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6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KOREAVC</cp:lastModifiedBy>
  <cp:revision>135</cp:revision>
  <dcterms:created xsi:type="dcterms:W3CDTF">2021-02-14T00:18:03Z</dcterms:created>
  <dcterms:modified xsi:type="dcterms:W3CDTF">2024-07-30T00:45:53Z</dcterms:modified>
</cp:coreProperties>
</file>