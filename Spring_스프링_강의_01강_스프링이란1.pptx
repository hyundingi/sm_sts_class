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9" r:id="rId2"/>
    <p:sldId id="300" r:id="rId3"/>
    <p:sldId id="356" r:id="rId4"/>
    <p:sldId id="357" r:id="rId5"/>
    <p:sldId id="353" r:id="rId6"/>
    <p:sldId id="352" r:id="rId7"/>
    <p:sldId id="351" r:id="rId8"/>
    <p:sldId id="350" r:id="rId9"/>
    <p:sldId id="354" r:id="rId10"/>
    <p:sldId id="355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719"/>
    <a:srgbClr val="FFDA1A"/>
    <a:srgbClr val="86EAEF"/>
    <a:srgbClr val="EFD5B2"/>
    <a:srgbClr val="6BC0FF"/>
    <a:srgbClr val="4785B8"/>
    <a:srgbClr val="396E9A"/>
    <a:srgbClr val="174366"/>
    <a:srgbClr val="000000"/>
    <a:srgbClr val="4B5C7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995" autoAdjust="0"/>
    <p:restoredTop sz="94660"/>
  </p:normalViewPr>
  <p:slideViewPr>
    <p:cSldViewPr snapToGrid="0" showGuides="1">
      <p:cViewPr>
        <p:scale>
          <a:sx n="83" d="100"/>
          <a:sy n="83" d="100"/>
        </p:scale>
        <p:origin x="-1386" y="-7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A07CD-7CF1-42E6-88F0-1E16322EAFE4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1B74-8A38-4139-8F3A-2A7FCD344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0B428E5-4487-4DFD-8F28-9D964CD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084DD16E-187C-4E7E-ABBE-F6BAC9F37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88A4909-5F9B-4C27-B710-67153ABA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CFC0D00-E907-440E-A201-CB22D51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04CD4DB-7CDF-4DC5-A588-36FF3B7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C0765E-FEE5-4F3E-B758-957F9D1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B8203BB-146D-4B44-AA2A-D336C0BF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FEA8557-8690-42D1-8E15-36046512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D162651-A169-457B-99EA-EA1182CF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244B403-3C1C-4CE4-AA5F-DF4C2A7C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6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30486F1-7E70-4862-B180-2F6D6C67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6908656-EF8F-48E0-9146-07207246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16B4667-8BEE-4EC9-BA83-01E5A6F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F9D9826-20A3-4308-8A7E-4443ADE4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7094DF9-3D1A-4060-B052-7334DBE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522D55-7DBF-4DF1-AA0F-67C643A6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12F76A-C30B-4227-9FF3-E27F34C3E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7C20396-A042-42DD-9F0A-41B3571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C3142A1-0A63-479E-9A20-AF9E0235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DA1015A-5E4C-48EF-B12F-BAC88CCB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6BA470E-15C8-4466-BB2E-CE85324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AA09FD-4F6B-48E5-BE06-783FEA30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FAB8419-E738-4085-9DEA-BCA42D09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0F587FC7-027E-491E-BED2-077EECD8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52F5D329-9162-4215-8C89-91A50AF8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E0CA0DCA-1843-474C-A22A-E55A19E9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D80573AA-E75C-4AEF-B12E-B708309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B403317B-845F-46B5-AEAD-5D1A351E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C00B0CCC-652B-4FAD-9905-871FB0B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211D18-6A50-431A-910D-D067F0B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FD8662F-716A-4A1D-B2EA-998F00F9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1E16FA2-A4DB-4FA7-9701-60D7AF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4FB5A49D-3517-4E67-A938-EB73ECC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9BD9945-F253-480F-B350-42D8872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EAA3872-D885-4E5E-93E0-787173DD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1EA71B0-39FE-4979-8EEE-D65F5EED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1FD771C-80C4-4A89-9DDE-75DEF39A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01BA1B2-C8F1-4247-A6DE-B7406BF0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95EDE68-03B7-446B-9B78-5F31A3A3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2966B7B-1EDC-4343-9BA3-A7E1981C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95A37DD-A068-47F0-B5E9-276C85D0A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0B77AA3-0D93-4AAE-923B-6CB8DC91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B4F825F-B1F5-43F1-867C-C0771F64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1DF479B-B03B-4053-AC71-D2F3CCE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E3258AE-092A-4CB5-839C-AEFEF54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32D5B9B-7087-4278-8D9F-742BE7B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3D46886-A0A8-4BC6-BC27-C23665A86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5FFBE18-7E7B-464D-AD6B-7728D293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9FB71CC-82EF-4AF7-B753-454DFD3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061512D-1F1E-4E61-8590-1679657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31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13D78E37-5232-46D5-834E-28C0916B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468B19-65B1-488C-AE29-F57BCDB92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F0112E3-2C15-484C-AA1B-F968958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F28E4BE-748D-4FB8-BC6B-A661EC4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E3EE48-1179-4BE7-B1F5-AAA66B51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64E0DACC-CEE6-4418-B167-457C89CF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29CE159-3C04-447D-A17B-131FA831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C73AF69-C0A0-4CD9-9332-EB467E4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ADB4A-3A8B-4072-ACF2-B9A64CC5A17A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7477B31-56FC-4575-A118-0FB21F2D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87745DC-A89F-4B55-AEDC-D856DADB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37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0101" y="448871"/>
            <a:ext cx="11351799" cy="5960258"/>
          </a:xfrm>
          <a:prstGeom prst="rect">
            <a:avLst/>
          </a:prstGeom>
          <a:solidFill>
            <a:srgbClr val="0058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77532" y="2001520"/>
            <a:ext cx="7111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r>
              <a:rPr lang="ko-KR" altLang="en-US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강</a:t>
            </a:r>
            <a:r>
              <a:rPr lang="en-US" altLang="ko-KR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sz="4800" kern="1800" spc="300" dirty="0" smtClean="0">
                <a:solidFill>
                  <a:schemeClr val="bg1"/>
                </a:solidFill>
                <a:latin typeface="+mj-ea"/>
                <a:ea typeface="+mj-ea"/>
              </a:rPr>
              <a:t>스프링 프로젝트</a:t>
            </a:r>
            <a:endParaRPr lang="en-US" altLang="ko-KR" sz="4800" kern="18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71344" y="3210595"/>
            <a:ext cx="25492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</a:t>
            </a:r>
            <a:endParaRPr lang="en-US" altLang="ko-KR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프로그램 다운로드</a:t>
            </a:r>
            <a:endParaRPr lang="en-US" altLang="ko-KR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의존성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 주입</a:t>
            </a:r>
          </a:p>
          <a:p>
            <a:pPr marL="285750" indent="-285750" algn="r">
              <a:buFontTx/>
              <a:buChar char="-"/>
            </a:pPr>
            <a:r>
              <a:rPr lang="ko-KR" altLang="en-US" dirty="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구현형태</a:t>
            </a:r>
            <a:endParaRPr lang="en-US" altLang="ko-KR" dirty="0" smtClea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DI, IOC</a:t>
            </a:r>
            <a:r>
              <a:rPr lang="ko-KR" altLang="en-US" dirty="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컨테이너</a:t>
            </a:r>
            <a:endParaRPr lang="ko-KR" altLang="en-US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532" y="2096249"/>
            <a:ext cx="697791" cy="697791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4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"/>
    </mc:Choice>
    <mc:Fallback xmlns="">
      <p:transition spd="slow" advTm="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프레임워크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2560586"/>
            <a:ext cx="11370102" cy="31085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개발자들이 마음대로 개발을 진행하지 않고</a:t>
            </a:r>
            <a:r>
              <a:rPr lang="en-US" altLang="ko-KR" sz="2800" dirty="0"/>
              <a:t> </a:t>
            </a:r>
            <a:br>
              <a:rPr lang="en-US" altLang="ko-KR" sz="2800" dirty="0"/>
            </a:br>
            <a:r>
              <a:rPr lang="ko-KR" altLang="en-US" sz="2800" dirty="0" smtClean="0"/>
              <a:t>프레임워크라는 것을 </a:t>
            </a:r>
            <a:r>
              <a:rPr lang="ko-KR" altLang="en-US" sz="2800" dirty="0"/>
              <a:t>사용하여 그 </a:t>
            </a:r>
            <a:r>
              <a:rPr lang="ko-KR" altLang="en-US" sz="2800" dirty="0" smtClean="0"/>
              <a:t>틀 안에서 </a:t>
            </a:r>
            <a:r>
              <a:rPr lang="ko-KR" altLang="en-US" sz="2800" dirty="0"/>
              <a:t>개발을 진행</a:t>
            </a:r>
            <a:r>
              <a:rPr lang="en-US" altLang="ko-KR" sz="2800" dirty="0"/>
              <a:t>. </a:t>
            </a:r>
            <a:endParaRPr lang="en-US" altLang="ko-KR" sz="2800" dirty="0" smtClean="0"/>
          </a:p>
          <a:p>
            <a:endParaRPr lang="en-US" altLang="ko-K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개발할 때 설계 기본이 되는 뼈대나 구조 </a:t>
            </a:r>
            <a:r>
              <a:rPr lang="en-US" altLang="ko-KR" sz="2800" dirty="0"/>
              <a:t>/ </a:t>
            </a:r>
            <a:r>
              <a:rPr lang="ko-KR" altLang="en-US" sz="2800" dirty="0"/>
              <a:t>환경</a:t>
            </a:r>
          </a:p>
          <a:p>
            <a:r>
              <a:rPr lang="en-US" altLang="ko-KR" sz="2800" dirty="0" smtClean="0"/>
              <a:t>    (</a:t>
            </a:r>
            <a:r>
              <a:rPr lang="ko-KR" altLang="en-US" sz="2800" dirty="0"/>
              <a:t>문제 영역을 해결한 재사용</a:t>
            </a:r>
            <a:r>
              <a:rPr lang="en-US" altLang="ko-KR" sz="2800" dirty="0"/>
              <a:t>, </a:t>
            </a:r>
            <a:r>
              <a:rPr lang="ko-KR" altLang="en-US" sz="2800" dirty="0"/>
              <a:t>확장 가능한 라이브러리</a:t>
            </a:r>
            <a:r>
              <a:rPr lang="en-US" altLang="ko-KR" sz="2800" dirty="0"/>
              <a:t>)</a:t>
            </a:r>
          </a:p>
          <a:p>
            <a:endParaRPr lang="ko-KR" altLang="en-US" sz="28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70215"/>
            <a:ext cx="11370103" cy="12612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프레임워크란</a:t>
            </a:r>
            <a:r>
              <a:rPr lang="en-US" altLang="ko-KR" sz="3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1201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=""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=""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프로그램  다운로드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=""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A17CEA73-D173-1463-8FED-69530ABFC4BA}"/>
              </a:ext>
            </a:extLst>
          </p:cNvPr>
          <p:cNvSpPr/>
          <p:nvPr/>
        </p:nvSpPr>
        <p:spPr>
          <a:xfrm>
            <a:off x="416357" y="994231"/>
            <a:ext cx="11370103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1. </a:t>
            </a:r>
            <a:r>
              <a:rPr lang="ko-KR" altLang="en-US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스프링 다운로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드</a:t>
            </a:r>
            <a: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 </a:t>
            </a:r>
            <a:r>
              <a:rPr lang="en-US" altLang="ko-KR" dirty="0"/>
              <a:t>- </a:t>
            </a:r>
            <a:r>
              <a:rPr lang="ko-KR" altLang="en-US" dirty="0"/>
              <a:t>스프링 홈페이지에서</a:t>
            </a:r>
            <a:r>
              <a:rPr lang="en-US" altLang="ko-KR" dirty="0"/>
              <a:t>, [Project] - [Spring Tools 4] 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/>
              <a:t>https://spring.io/tools</a:t>
            </a:r>
            <a:br>
              <a:rPr lang="en-US" altLang="ko-KR" dirty="0"/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2. Help -&gt; Eclipse </a:t>
            </a:r>
            <a:r>
              <a:rPr lang="en-US" altLang="ko-KR" dirty="0" err="1">
                <a:latin typeface="NanumBarunGothic" panose="020B0603020101020101" pitchFamily="50" charset="-127"/>
                <a:ea typeface="NanumBarunGothic" panose="020B0603020101020101" pitchFamily="50" charset="-127"/>
              </a:rPr>
              <a:t>MarketPlace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</a:t>
            </a:r>
            <a: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Place </a:t>
            </a:r>
            <a:r>
              <a:rPr lang="ko-KR" altLang="en-US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에서 </a:t>
            </a:r>
            <a: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java and web </a:t>
            </a:r>
            <a:r>
              <a:rPr lang="ko-KR" altLang="en-US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검색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altLang="ko-KR" dirty="0" smtClean="0">
                <a:latin typeface="NanumBarunGothic" panose="020B0603020101020101" pitchFamily="50" charset="-127"/>
                <a:ea typeface="NanumBarunGothic" panose="020B0603020101020101" pitchFamily="50" charset="-127"/>
              </a:rPr>
              <a:t>3. </a:t>
            </a:r>
            <a:r>
              <a:rPr lang="ko-KR" altLang="en-US" dirty="0" err="1"/>
              <a:t>톰캣</a:t>
            </a:r>
            <a:r>
              <a:rPr lang="ko-KR" altLang="en-US" dirty="0"/>
              <a:t> 서버에서 실행하기 위해 </a:t>
            </a:r>
            <a:r>
              <a:rPr lang="en-US" altLang="ko-KR" dirty="0"/>
              <a:t>Eclipse Enterprise Java and Web Developer Tools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4. </a:t>
            </a:r>
            <a:r>
              <a:rPr lang="ko-KR" altLang="en-US" dirty="0" smtClean="0"/>
              <a:t>한글 설정 </a:t>
            </a:r>
            <a:r>
              <a:rPr lang="en-US" altLang="ko-KR" dirty="0" smtClean="0"/>
              <a:t>( UTF-8 ) – </a:t>
            </a:r>
            <a:r>
              <a:rPr lang="ko-KR" altLang="en-US" dirty="0" smtClean="0"/>
              <a:t>검색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enc</a:t>
            </a:r>
            <a:endParaRPr lang="ko-KR" altLang="en-US" dirty="0">
              <a:latin typeface="NanumBarunGothic" panose="020B0603020101020101" pitchFamily="50" charset="-127"/>
              <a:ea typeface="NanumBarunGothic" panose="020B0603020101020101" pitchFamily="50" charset="-127"/>
            </a:endParaRPr>
          </a:p>
        </p:txBody>
      </p:sp>
      <p:pic>
        <p:nvPicPr>
          <p:cNvPr id="2050" name="Picture 2" descr="https://velog.velcdn.com/images%2Fdongeranguk%2Fpost%2F5af2f1b3-a6f2-48bd-bf69-8ef6c0f9b168%2Fwhat_download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7" y="4245478"/>
            <a:ext cx="3698207" cy="191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velog.velcdn.com/images%2Fdongeranguk%2Fpost%2F75937df7-b36f-43cb-9b2a-f9ca13ac5ca2%2F%ED%94%84%EB%A0%88%EC%A0%A0%ED%85%8C%EC%9D%B4%EC%85%982.pn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15325" y="3703102"/>
            <a:ext cx="2315411" cy="295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velog.velcdn.com/images%2Fdongeranguk%2Fpost%2Fb2c5f356-8903-479c-95ab-7b71bcbe6318%2F%ED%94%84%EB%A0%88%EC%A0%A0%ED%85%8C%EC%9D%B4%EC%85%983.pn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31497" y="3758562"/>
            <a:ext cx="2229982" cy="289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t1.daumcdn.net/cfile/tistory/995D944E5D1AB20F3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240" y="3983087"/>
            <a:ext cx="2514166" cy="239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4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프로그램  다운로드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14065"/>
            <a:ext cx="11246253" cy="49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관련 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HTML, CSS, JSP </a:t>
            </a:r>
            <a:r>
              <a:rPr lang="ko-KR" altLang="en-US" sz="24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파일등을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생성 하려면 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따로 설치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9" y="1688034"/>
            <a:ext cx="2952924" cy="45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555555"/>
                </a:solidFill>
                <a:latin typeface="AppleSDGothicNeo"/>
              </a:rPr>
              <a:t>1. Help -&gt; </a:t>
            </a:r>
            <a:r>
              <a:rPr lang="en-US" altLang="ko-KR" sz="1200" b="1" dirty="0" smtClean="0">
                <a:solidFill>
                  <a:srgbClr val="555555"/>
                </a:solidFill>
                <a:latin typeface="AppleSDGothicNeo"/>
              </a:rPr>
              <a:t>Eclipse </a:t>
            </a:r>
            <a:r>
              <a:rPr lang="en-US" altLang="ko-KR" sz="1200" b="1" dirty="0" err="1" smtClean="0">
                <a:solidFill>
                  <a:srgbClr val="555555"/>
                </a:solidFill>
                <a:latin typeface="AppleSDGothicNeo"/>
              </a:rPr>
              <a:t>MarketPlace</a:t>
            </a:r>
            <a:r>
              <a:rPr lang="en-US" altLang="ko-KR" sz="1200" b="1" dirty="0" smtClean="0">
                <a:solidFill>
                  <a:srgbClr val="555555"/>
                </a:solidFill>
                <a:latin typeface="AppleSDGothicNeo"/>
              </a:rPr>
              <a:t> Place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BF0A7E6-FD5B-AFEA-03D8-3DA1B8793A70}"/>
              </a:ext>
            </a:extLst>
          </p:cNvPr>
          <p:cNvSpPr txBox="1"/>
          <p:nvPr/>
        </p:nvSpPr>
        <p:spPr>
          <a:xfrm>
            <a:off x="416359" y="2339579"/>
            <a:ext cx="29529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/>
                <a:latin typeface="Noto Sans DemiLight"/>
              </a:rPr>
              <a:t>JSP </a:t>
            </a:r>
            <a:r>
              <a:rPr lang="ko-KR" altLang="en-US" sz="1400" dirty="0">
                <a:effectLst/>
                <a:latin typeface="Noto Sans DemiLight"/>
              </a:rPr>
              <a:t>사용을 권장하지 않고</a:t>
            </a:r>
            <a:r>
              <a:rPr lang="en-US" altLang="ko-KR" sz="1400" dirty="0">
                <a:effectLst/>
                <a:latin typeface="Noto Sans DemiLight"/>
              </a:rPr>
              <a:t>, </a:t>
            </a:r>
          </a:p>
          <a:p>
            <a:r>
              <a:rPr lang="en-US" altLang="ko-KR" sz="1400" dirty="0" err="1">
                <a:effectLst/>
                <a:latin typeface="Noto Sans DemiLight"/>
              </a:rPr>
              <a:t>Thymeleaf</a:t>
            </a:r>
            <a:r>
              <a:rPr lang="en-US" altLang="ko-KR" sz="1400" dirty="0">
                <a:effectLst/>
                <a:latin typeface="Noto Sans DemiLight"/>
              </a:rPr>
              <a:t>(</a:t>
            </a:r>
            <a:r>
              <a:rPr lang="ko-KR" altLang="en-US" sz="1400" dirty="0" err="1">
                <a:effectLst/>
                <a:latin typeface="Noto Sans DemiLight"/>
              </a:rPr>
              <a:t>타임리프</a:t>
            </a:r>
            <a:r>
              <a:rPr lang="en-US" altLang="ko-KR" sz="1400" dirty="0">
                <a:effectLst/>
                <a:latin typeface="Noto Sans DemiLight"/>
              </a:rPr>
              <a:t>) </a:t>
            </a:r>
            <a:r>
              <a:rPr lang="ko-KR" altLang="en-US" sz="1400" dirty="0">
                <a:effectLst/>
                <a:latin typeface="Noto Sans DemiLight"/>
              </a:rPr>
              <a:t>와 같은</a:t>
            </a:r>
            <a:endParaRPr lang="en-US" altLang="ko-KR" sz="1400" dirty="0">
              <a:effectLst/>
              <a:latin typeface="Noto Sans DemiLight"/>
            </a:endParaRPr>
          </a:p>
          <a:p>
            <a:r>
              <a:rPr lang="ko-KR" altLang="en-US" sz="1400" dirty="0">
                <a:effectLst/>
                <a:latin typeface="Noto Sans DemiLight"/>
              </a:rPr>
              <a:t>템플릿 구조를 권장</a:t>
            </a:r>
            <a:endParaRPr lang="ko-KR" altLang="en-US" sz="1400" dirty="0"/>
          </a:p>
        </p:txBody>
      </p:sp>
      <p:pic>
        <p:nvPicPr>
          <p:cNvPr id="17" name="Picture 4">
            <a:extLst>
              <a:ext uri="{FF2B5EF4-FFF2-40B4-BE49-F238E27FC236}">
                <a16:creationId xmlns="" xmlns:a16="http://schemas.microsoft.com/office/drawing/2014/main" id="{D1EF63CA-B3B3-6CD9-A0DF-9B1354E9A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469" y="1688034"/>
            <a:ext cx="4341052" cy="495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="" xmlns:a16="http://schemas.microsoft.com/office/drawing/2014/main" id="{BB663735-30B2-2FC2-8E0A-2CA53338D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541" y="1688034"/>
            <a:ext cx="3660070" cy="429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42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Sts4 – </a:t>
            </a:r>
            <a:r>
              <a:rPr lang="ko-KR" altLang="en-US" sz="3300" spc="-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한글설정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14065"/>
            <a:ext cx="11246253" cy="49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한글 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Utf-8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9" y="1688034"/>
            <a:ext cx="2952924" cy="45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555555"/>
                </a:solidFill>
                <a:latin typeface="AppleSDGothicNeo"/>
              </a:rPr>
              <a:t>1. Window - Preferences</a:t>
            </a:r>
          </a:p>
        </p:txBody>
      </p:sp>
      <p:pic>
        <p:nvPicPr>
          <p:cNvPr id="14" name="Picture 10">
            <a:extLst>
              <a:ext uri="{FF2B5EF4-FFF2-40B4-BE49-F238E27FC236}">
                <a16:creationId xmlns="" xmlns:a16="http://schemas.microsoft.com/office/drawing/2014/main" id="{CB2DD3D3-5CC9-D9B8-7033-37634C9CA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9" y="2270700"/>
            <a:ext cx="4382680" cy="417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273096C-FA46-A97C-4E62-F1E10FAB1A61}"/>
              </a:ext>
            </a:extLst>
          </p:cNvPr>
          <p:cNvSpPr txBox="1"/>
          <p:nvPr/>
        </p:nvSpPr>
        <p:spPr>
          <a:xfrm>
            <a:off x="5138299" y="2267757"/>
            <a:ext cx="4382679" cy="7354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o-KR" altLang="en-US" sz="2000" dirty="0"/>
              <a:t>검색 </a:t>
            </a:r>
            <a:r>
              <a:rPr lang="en-US" altLang="ko-KR" sz="2000" dirty="0"/>
              <a:t>: enc </a:t>
            </a:r>
            <a:r>
              <a:rPr lang="ko-KR" altLang="en-US" sz="2000" dirty="0"/>
              <a:t>입력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        </a:t>
            </a:r>
            <a:r>
              <a:rPr lang="ko-KR" altLang="en-US" sz="2000" dirty="0"/>
              <a:t>한글 </a:t>
            </a:r>
            <a:r>
              <a:rPr lang="en-US" altLang="ko-KR" sz="2000" dirty="0"/>
              <a:t>utf-8</a:t>
            </a:r>
            <a:r>
              <a:rPr lang="ko-KR" altLang="en-US" sz="2000" dirty="0"/>
              <a:t>로 모두 설정</a:t>
            </a:r>
          </a:p>
        </p:txBody>
      </p:sp>
    </p:spTree>
    <p:extLst>
      <p:ext uri="{BB962C8B-B14F-4D97-AF65-F5344CB8AC3E}">
        <p14:creationId xmlns:p14="http://schemas.microsoft.com/office/powerpoint/2010/main" val="188944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의존성 주입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(Dependency Injection) 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이란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699660"/>
            <a:ext cx="11370102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1.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외부에서 두 객체 간의 관계를 결정해주는 디자인 패턴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2.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인터페이스를 두고 클래스 레벨에서는 의존관계가 고정되지 않도록 하고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   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런타임 시에 관계를 동적으로 주입하여 유연성을 확보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, </a:t>
            </a:r>
            <a:r>
              <a:rPr lang="ko-KR" altLang="en-US" dirty="0" err="1">
                <a:latin typeface="NanumBarunGothic" panose="020B0603020101020101" pitchFamily="50" charset="-127"/>
                <a:ea typeface="NanumBarunGothic" panose="020B0603020101020101" pitchFamily="50" charset="-127"/>
              </a:rPr>
              <a:t>결합도를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낮춤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3.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의존성이란 한 객체가 다른 객체를 사용할 때 의존성이 있다고 함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  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예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) Store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객체가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Pencil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객체를 사용하고 있는 경우에 우리는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Store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객체가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Pencil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객체에 의존성이 있다고 표현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70215"/>
            <a:ext cx="11370103" cy="549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의존성 주입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4AF31775-D788-2EAC-58B4-DE496135A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93" y="5149871"/>
            <a:ext cx="553402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5D12A2A-8F32-6FEA-51C0-E1D2482A0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58" y="4038707"/>
            <a:ext cx="2353579" cy="1350414"/>
          </a:xfrm>
          <a:prstGeom prst="rect">
            <a:avLst/>
          </a:prstGeom>
        </p:spPr>
      </p:pic>
      <p:pic>
        <p:nvPicPr>
          <p:cNvPr id="1026" name="Picture 2" descr="https://blog.kakaocdn.net/dn/defFpy/btq4kVvBKcc/OxugXGKzIKD5AmMJ1zGrZ1/img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41" y="4140754"/>
            <a:ext cx="4108283" cy="241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6199474" y="5014987"/>
            <a:ext cx="406338" cy="662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40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프로그램 </a:t>
            </a:r>
            <a:r>
              <a:rPr lang="ko-KR" altLang="en-US" sz="3300" spc="-3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구현형태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670C57E-00EC-44C3-9EB4-0A3542D0FD3C}"/>
              </a:ext>
            </a:extLst>
          </p:cNvPr>
          <p:cNvSpPr/>
          <p:nvPr/>
        </p:nvSpPr>
        <p:spPr>
          <a:xfrm>
            <a:off x="416358" y="1070215"/>
            <a:ext cx="11370103" cy="549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Dao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새로운 파일로 개발을 업그레이드해서 </a:t>
            </a: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추가할 때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Service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 코드를 수정해야 한다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9FD8B41-444F-DC40-82B9-F090646E3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88" y="1999068"/>
            <a:ext cx="9020962" cy="392041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152546" y="5976137"/>
            <a:ext cx="191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/>
              <a:t>B1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B2</a:t>
            </a:r>
            <a:r>
              <a:rPr lang="ko-KR" altLang="en-US" sz="1600" dirty="0" smtClean="0"/>
              <a:t>로 </a:t>
            </a:r>
            <a:r>
              <a:rPr lang="ko-KR" altLang="en-US" sz="1600" dirty="0" err="1" smtClean="0"/>
              <a:t>변경시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en-US" altLang="ko-KR" sz="1600" dirty="0" smtClean="0"/>
              <a:t>( </a:t>
            </a:r>
            <a:r>
              <a:rPr lang="ko-KR" altLang="en-US" sz="1600" dirty="0" smtClean="0"/>
              <a:t>코드수정 필요 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4989095" y="3438358"/>
            <a:ext cx="1791368" cy="145983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4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IoC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(Inversion of Control)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란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17CEA73-D173-1463-8FED-69530ABFC4BA}"/>
              </a:ext>
            </a:extLst>
          </p:cNvPr>
          <p:cNvSpPr/>
          <p:nvPr/>
        </p:nvSpPr>
        <p:spPr>
          <a:xfrm>
            <a:off x="416357" y="1103084"/>
            <a:ext cx="11370103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1. </a:t>
            </a:r>
            <a:r>
              <a:rPr lang="en-US" altLang="ko-KR" dirty="0" err="1">
                <a:latin typeface="NanumBarunGothic" panose="020B0603020101020101" pitchFamily="50" charset="-127"/>
                <a:ea typeface="NanumBarunGothic" panose="020B0603020101020101" pitchFamily="50" charset="-127"/>
              </a:rPr>
              <a:t>IoC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는 제어의 역전이라는 뜻으로 프로그램의 제어 흐름을 직접 제어하는 것이 아니라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  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외부에서 관리하는 것을 말함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2.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이전에는 개발자가 객체를 생성하고 관리하며 프로그램의 제어 흐름을 관리했지만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/>
            </a:r>
            <a:b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</a:b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     Spring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에서는 스프링 컨테이너가 프로그램의 제어흐름을 제어 함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xmlns="" id="{A95E8E98-9959-01C7-180C-83209D7E8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309" y="2908968"/>
            <a:ext cx="7717420" cy="372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81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DI(Dependency Injection)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IOC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컨테이너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1285474" y="2112305"/>
            <a:ext cx="3437792" cy="3165231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  <a:endParaRPr kumimoji="0" lang="en-US" altLang="ko-KR" sz="2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548581" y="3247457"/>
            <a:ext cx="1353260" cy="135326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</a:p>
        </p:txBody>
      </p:sp>
      <p:sp>
        <p:nvSpPr>
          <p:cNvPr id="53" name="타원 52"/>
          <p:cNvSpPr/>
          <p:nvPr/>
        </p:nvSpPr>
        <p:spPr>
          <a:xfrm>
            <a:off x="3004370" y="3247457"/>
            <a:ext cx="1353260" cy="135326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7207" y="5354335"/>
            <a:ext cx="3546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+mn-ea"/>
              </a:rPr>
              <a:t>A</a:t>
            </a:r>
            <a:r>
              <a:rPr lang="ko-KR" altLang="en-US" sz="1100" b="1" dirty="0">
                <a:latin typeface="+mn-ea"/>
              </a:rPr>
              <a:t>객체는 </a:t>
            </a:r>
            <a:r>
              <a:rPr lang="en-US" altLang="ko-KR" sz="1100" b="1" dirty="0">
                <a:latin typeface="+mn-ea"/>
              </a:rPr>
              <a:t>B/C</a:t>
            </a:r>
            <a:r>
              <a:rPr lang="ko-KR" altLang="en-US" sz="1100" b="1" dirty="0">
                <a:latin typeface="+mn-ea"/>
              </a:rPr>
              <a:t>객체에 의존 한다</a:t>
            </a:r>
            <a:r>
              <a:rPr lang="en-US" altLang="ko-KR" sz="1100" b="1" dirty="0">
                <a:latin typeface="+mn-ea"/>
              </a:rPr>
              <a:t>.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151077" y="1178126"/>
            <a:ext cx="3437792" cy="1397696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7379677" y="1876974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B()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8984273" y="1876974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C()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151077" y="3879840"/>
            <a:ext cx="3437792" cy="1397696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7379677" y="5819348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B()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8984273" y="5819348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C()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7379677" y="4578688"/>
            <a:ext cx="3094892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setter() or construct()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62" name="직선 화살표 연결선 61"/>
          <p:cNvCxnSpPr>
            <a:stCxn id="59" idx="0"/>
          </p:cNvCxnSpPr>
          <p:nvPr/>
        </p:nvCxnSpPr>
        <p:spPr>
          <a:xfrm flipV="1">
            <a:off x="8124825" y="5084104"/>
            <a:ext cx="10990" cy="7352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직선 화살표 연결선 62"/>
          <p:cNvCxnSpPr/>
          <p:nvPr/>
        </p:nvCxnSpPr>
        <p:spPr>
          <a:xfrm flipV="1">
            <a:off x="9729421" y="5084104"/>
            <a:ext cx="10990" cy="7352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54093" y="2586213"/>
            <a:ext cx="35460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+mn-ea"/>
              </a:rPr>
              <a:t>A</a:t>
            </a:r>
            <a:r>
              <a:rPr lang="ko-KR" altLang="en-US" sz="1100" b="1" dirty="0">
                <a:latin typeface="+mn-ea"/>
              </a:rPr>
              <a:t>객체가 </a:t>
            </a:r>
            <a:r>
              <a:rPr lang="en-US" altLang="ko-KR" sz="1100" b="1" dirty="0">
                <a:latin typeface="+mn-ea"/>
              </a:rPr>
              <a:t>B/C</a:t>
            </a:r>
            <a:r>
              <a:rPr lang="ko-KR" altLang="en-US" sz="1100" b="1" dirty="0">
                <a:latin typeface="+mn-ea"/>
              </a:rPr>
              <a:t>객체를 직접 생성 한다</a:t>
            </a:r>
            <a:r>
              <a:rPr lang="en-US" altLang="ko-KR" sz="1100" b="1" dirty="0">
                <a:latin typeface="+mn-ea"/>
              </a:rPr>
              <a:t>.</a:t>
            </a:r>
          </a:p>
          <a:p>
            <a:pPr algn="ctr"/>
            <a:r>
              <a:rPr lang="en-US" altLang="ko-KR" sz="1600" b="1" dirty="0">
                <a:latin typeface="+mn-ea"/>
              </a:rPr>
              <a:t>Student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 err="1">
                <a:latin typeface="+mn-ea"/>
              </a:rPr>
              <a:t>stu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=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new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Student();</a:t>
            </a:r>
          </a:p>
          <a:p>
            <a:pPr algn="ctr"/>
            <a:r>
              <a:rPr lang="en-US" altLang="ko-KR" sz="1600" b="1" dirty="0">
                <a:latin typeface="+mn-ea"/>
              </a:rPr>
              <a:t>New</a:t>
            </a:r>
            <a:r>
              <a:rPr lang="ko-KR" altLang="en-US" sz="1600" b="1" dirty="0">
                <a:latin typeface="+mn-ea"/>
              </a:rPr>
              <a:t>객체를 직접생성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51077" y="6361160"/>
            <a:ext cx="3546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+mn-ea"/>
              </a:rPr>
              <a:t>B/C</a:t>
            </a:r>
            <a:r>
              <a:rPr lang="ko-KR" altLang="en-US" sz="1100" b="1" dirty="0">
                <a:latin typeface="+mn-ea"/>
              </a:rPr>
              <a:t>객체 외부에 생성하여 </a:t>
            </a:r>
            <a:r>
              <a:rPr lang="en-US" altLang="ko-KR" sz="1100" b="1" dirty="0">
                <a:latin typeface="+mn-ea"/>
              </a:rPr>
              <a:t>A</a:t>
            </a:r>
            <a:r>
              <a:rPr lang="ko-KR" altLang="en-US" sz="1100" b="1" dirty="0">
                <a:latin typeface="+mn-ea"/>
              </a:rPr>
              <a:t>객체에 넣어 준다</a:t>
            </a:r>
            <a:r>
              <a:rPr lang="en-US" altLang="ko-KR" sz="1100" b="1" dirty="0">
                <a:latin typeface="+mn-ea"/>
              </a:rPr>
              <a:t>.</a:t>
            </a:r>
          </a:p>
        </p:txBody>
      </p:sp>
      <p:cxnSp>
        <p:nvCxnSpPr>
          <p:cNvPr id="66" name="직선 화살표 연결선 65"/>
          <p:cNvCxnSpPr/>
          <p:nvPr/>
        </p:nvCxnSpPr>
        <p:spPr>
          <a:xfrm flipV="1">
            <a:off x="4986373" y="2575822"/>
            <a:ext cx="1920788" cy="844749"/>
          </a:xfrm>
          <a:prstGeom prst="straightConnector1">
            <a:avLst/>
          </a:prstGeom>
          <a:noFill/>
          <a:ln w="25400" cap="flat" cmpd="dbl" algn="ctr">
            <a:solidFill>
              <a:srgbClr val="FFC000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7" name="직선 화살표 연결선 66"/>
          <p:cNvCxnSpPr/>
          <p:nvPr/>
        </p:nvCxnSpPr>
        <p:spPr>
          <a:xfrm>
            <a:off x="5037637" y="3879840"/>
            <a:ext cx="1747804" cy="396137"/>
          </a:xfrm>
          <a:prstGeom prst="straightConnector1">
            <a:avLst/>
          </a:prstGeom>
          <a:noFill/>
          <a:ln w="25400" cap="flat" cmpd="dbl" algn="ctr">
            <a:solidFill>
              <a:srgbClr val="FFC000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450410" y="2736586"/>
            <a:ext cx="717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+mn-ea"/>
              </a:rPr>
              <a:t>방법</a:t>
            </a:r>
            <a:r>
              <a:rPr lang="en-US" altLang="ko-KR" sz="1100" dirty="0">
                <a:latin typeface="+mn-ea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50410" y="4077908"/>
            <a:ext cx="717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+mn-ea"/>
              </a:rPr>
              <a:t>방법</a:t>
            </a:r>
            <a:r>
              <a:rPr lang="en-US" altLang="ko-KR" sz="1100" dirty="0">
                <a:latin typeface="+mn-ea"/>
              </a:rPr>
              <a:t>2</a:t>
            </a:r>
          </a:p>
        </p:txBody>
      </p:sp>
      <p:sp>
        <p:nvSpPr>
          <p:cNvPr id="70" name="포인트가 5개인 별 69"/>
          <p:cNvSpPr/>
          <p:nvPr/>
        </p:nvSpPr>
        <p:spPr>
          <a:xfrm>
            <a:off x="10266570" y="3544917"/>
            <a:ext cx="644598" cy="644598"/>
          </a:xfrm>
          <a:prstGeom prst="star5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140D6EE2-7FC9-4C3F-96E5-4131A3C62DB8}"/>
              </a:ext>
            </a:extLst>
          </p:cNvPr>
          <p:cNvSpPr txBox="1"/>
          <p:nvPr/>
        </p:nvSpPr>
        <p:spPr>
          <a:xfrm>
            <a:off x="6189784" y="5447589"/>
            <a:ext cx="1946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+mn-ea"/>
              </a:rPr>
              <a:t>만들어진 것을 가지고 옴</a:t>
            </a:r>
            <a:r>
              <a:rPr lang="en-US" altLang="ko-KR" sz="11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555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DI(Dependency Injection)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IOC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컨테이너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smtClean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xmlns="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/>
          <p:cNvSpPr/>
          <p:nvPr/>
        </p:nvSpPr>
        <p:spPr>
          <a:xfrm>
            <a:off x="934915" y="2920179"/>
            <a:ext cx="5917223" cy="3077308"/>
          </a:xfrm>
          <a:prstGeom prst="roundRect">
            <a:avLst>
              <a:gd name="adj" fmla="val 581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989993" y="1295481"/>
            <a:ext cx="3437792" cy="1397696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객체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2218593" y="3234989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B()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3823189" y="3234989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C()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2218593" y="1994329"/>
            <a:ext cx="3094892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setter() or construct()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91" name="직선 화살표 연결선 90"/>
          <p:cNvCxnSpPr>
            <a:stCxn id="88" idx="0"/>
          </p:cNvCxnSpPr>
          <p:nvPr/>
        </p:nvCxnSpPr>
        <p:spPr>
          <a:xfrm flipV="1">
            <a:off x="2963741" y="2499745"/>
            <a:ext cx="10990" cy="7352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2" name="직선 화살표 연결선 91"/>
          <p:cNvCxnSpPr/>
          <p:nvPr/>
        </p:nvCxnSpPr>
        <p:spPr>
          <a:xfrm flipV="1">
            <a:off x="4568337" y="2499745"/>
            <a:ext cx="10990" cy="7352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2628899" y="4228000"/>
            <a:ext cx="252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</a:rPr>
              <a:t>IOC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</a:rPr>
              <a:t>컨테이너</a:t>
            </a: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94" name="직선 화살표 연결선 93"/>
          <p:cNvCxnSpPr/>
          <p:nvPr/>
        </p:nvCxnSpPr>
        <p:spPr>
          <a:xfrm flipV="1">
            <a:off x="5313485" y="2499745"/>
            <a:ext cx="1353466" cy="73524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95" name="모서리가 둥근 직사각형 94"/>
          <p:cNvSpPr/>
          <p:nvPr/>
        </p:nvSpPr>
        <p:spPr>
          <a:xfrm>
            <a:off x="1262488" y="4823914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X()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2963741" y="5364910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Y()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568337" y="4818587"/>
            <a:ext cx="1490296" cy="505416"/>
          </a:xfrm>
          <a:prstGeom prst="round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new Z()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47717" y="2352171"/>
            <a:ext cx="2086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인터페이스를 통한 부품화</a:t>
            </a:r>
          </a:p>
        </p:txBody>
      </p:sp>
      <p:cxnSp>
        <p:nvCxnSpPr>
          <p:cNvPr id="99" name="직선 화살표 연결선 98"/>
          <p:cNvCxnSpPr/>
          <p:nvPr/>
        </p:nvCxnSpPr>
        <p:spPr>
          <a:xfrm flipV="1">
            <a:off x="6056318" y="4121987"/>
            <a:ext cx="1353466" cy="73524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00" name="TextBox 99"/>
          <p:cNvSpPr txBox="1"/>
          <p:nvPr/>
        </p:nvSpPr>
        <p:spPr>
          <a:xfrm>
            <a:off x="7296671" y="3951001"/>
            <a:ext cx="2086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인터페이스를 통한 부품화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95663" y="5535822"/>
            <a:ext cx="4882391" cy="461665"/>
          </a:xfrm>
          <a:prstGeom prst="rect">
            <a:avLst/>
          </a:prstGeom>
          <a:noFill/>
          <a:ln>
            <a:solidFill>
              <a:sysClr val="windowText" lastClr="000000">
                <a:lumMod val="85000"/>
                <a:lumOff val="15000"/>
              </a:sysClr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</a:rPr>
              <a:t>결국 스프링이란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</a:rPr>
              <a:t>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</a:rPr>
              <a:t>부품을 생성하고 조립하는 라이브러리 집합체 라고 할 수 있습니다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</a:rPr>
              <a:t>.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1526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D635ED1-ED7F-42FF-BBC4-E015AAC1D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" y="0"/>
            <a:ext cx="1219032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E00438A-FA4D-4AC6-AD9E-C18057FDD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4A48078-82E0-46B0-BFB6-AC766ABB0F40}"/>
              </a:ext>
            </a:extLst>
          </p:cNvPr>
          <p:cNvSpPr txBox="1"/>
          <p:nvPr/>
        </p:nvSpPr>
        <p:spPr>
          <a:xfrm>
            <a:off x="4362480" y="3034175"/>
            <a:ext cx="3467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YOU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9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Office 테마">
  <a:themeElements>
    <a:clrScheme name="블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518E"/>
      </a:accent1>
      <a:accent2>
        <a:srgbClr val="00608A"/>
      </a:accent2>
      <a:accent3>
        <a:srgbClr val="0286AD"/>
      </a:accent3>
      <a:accent4>
        <a:srgbClr val="01B1D0"/>
      </a:accent4>
      <a:accent5>
        <a:srgbClr val="90CBDD"/>
      </a:accent5>
      <a:accent6>
        <a:srgbClr val="F2EAE3"/>
      </a:accent6>
      <a:hlink>
        <a:srgbClr val="262626"/>
      </a:hlink>
      <a:folHlink>
        <a:srgbClr val="262626"/>
      </a:folHlink>
    </a:clrScheme>
    <a:fontScheme name="Arial나눔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6850</TotalTime>
  <Words>255</Words>
  <Application>Microsoft Office PowerPoint</Application>
  <PresentationFormat>사용자 지정</PresentationFormat>
  <Paragraphs>85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KOREAVC</cp:lastModifiedBy>
  <cp:revision>405</cp:revision>
  <dcterms:created xsi:type="dcterms:W3CDTF">2021-02-14T00:18:03Z</dcterms:created>
  <dcterms:modified xsi:type="dcterms:W3CDTF">2024-07-30T00:44:05Z</dcterms:modified>
</cp:coreProperties>
</file>